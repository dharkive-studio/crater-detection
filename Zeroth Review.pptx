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61" r:id="rId3"/>
    <p:sldId id="257" r:id="rId4"/>
    <p:sldId id="258" r:id="rId5"/>
    <p:sldId id="259" r:id="rId6"/>
    <p:sldId id="262"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29-05-2024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B8B41CC-6075-4FE4-9FF3-D2DD3E5C3D77}" type="datetime1">
              <a:rPr lang="en-IN" smtClean="0"/>
              <a:t>29-05-2024</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506891F-7347-4431-97AD-C01C892A47C1}" type="datetime1">
              <a:rPr lang="en-IN" smtClean="0"/>
              <a:t>29-05-2024</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E399DAC-F3BF-4AE7-BE2E-9341E5DDBCD3}" type="datetime1">
              <a:rPr lang="en-IN" smtClean="0"/>
              <a:t>29-05-2024</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55E4086-DDDF-4A3E-B65E-529ECDF388F6}" type="datetime1">
              <a:rPr lang="en-IN" smtClean="0"/>
              <a:t>29-05-2024</a:t>
            </a:fld>
            <a:endParaRPr lang="en-IN"/>
          </a:p>
        </p:txBody>
      </p:sp>
      <p:sp>
        <p:nvSpPr>
          <p:cNvPr id="6" name="Footer Placeholder 5"/>
          <p:cNvSpPr>
            <a:spLocks noGrp="1"/>
          </p:cNvSpPr>
          <p:nvPr>
            <p:ph type="ftr" sz="quarter" idx="11"/>
          </p:nvPr>
        </p:nvSpPr>
        <p:spPr/>
        <p:txBody>
          <a:bodyPr/>
          <a:lstStyle/>
          <a:p>
            <a:r>
              <a:rPr lang="en-IN"/>
              <a:t>CS7610  CAPSTONE PROJECT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33513FC-6062-41F3-9506-42D77E50035C}" type="datetime1">
              <a:rPr lang="en-IN" smtClean="0"/>
              <a:t>29-05-2024</a:t>
            </a:fld>
            <a:endParaRPr lang="en-IN"/>
          </a:p>
        </p:txBody>
      </p:sp>
      <p:sp>
        <p:nvSpPr>
          <p:cNvPr id="8" name="Footer Placeholder 7"/>
          <p:cNvSpPr>
            <a:spLocks noGrp="1"/>
          </p:cNvSpPr>
          <p:nvPr>
            <p:ph type="ftr" sz="quarter" idx="11"/>
          </p:nvPr>
        </p:nvSpPr>
        <p:spPr/>
        <p:txBody>
          <a:bodyPr/>
          <a:lstStyle/>
          <a:p>
            <a:r>
              <a:rPr lang="en-IN"/>
              <a:t>CS7610  CAPSTONE PROJECT  ,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5102EA7-AD0C-46EE-A861-FB9E38FE8195}" type="datetime1">
              <a:rPr lang="en-IN" smtClean="0"/>
              <a:t>29-05-2024</a:t>
            </a:fld>
            <a:endParaRPr lang="en-IN"/>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2B88AD-DB7D-43DC-886B-B7C39580BEA8}" type="datetime1">
              <a:rPr lang="en-IN" smtClean="0"/>
              <a:t>29-05-2024</a:t>
            </a:fld>
            <a:endParaRPr lang="en-IN"/>
          </a:p>
        </p:txBody>
      </p:sp>
      <p:sp>
        <p:nvSpPr>
          <p:cNvPr id="3" name="Footer Placeholder 2"/>
          <p:cNvSpPr>
            <a:spLocks noGrp="1"/>
          </p:cNvSpPr>
          <p:nvPr>
            <p:ph type="ftr" sz="quarter" idx="11"/>
          </p:nvPr>
        </p:nvSpPr>
        <p:spPr/>
        <p:txBody>
          <a:bodyPr/>
          <a:lstStyle/>
          <a:p>
            <a:r>
              <a:rPr lang="en-IN"/>
              <a:t>CS7610  CAPSTONE PROJECT  ,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A412B5-2974-490E-B565-58B5859EF588}" type="datetime1">
              <a:rPr lang="en-IN" smtClean="0"/>
              <a:t>29-05-2024</a:t>
            </a:fld>
            <a:endParaRPr lang="en-IN"/>
          </a:p>
        </p:txBody>
      </p:sp>
      <p:sp>
        <p:nvSpPr>
          <p:cNvPr id="6" name="Footer Placeholder 5"/>
          <p:cNvSpPr>
            <a:spLocks noGrp="1"/>
          </p:cNvSpPr>
          <p:nvPr>
            <p:ph type="ftr" sz="quarter" idx="11"/>
          </p:nvPr>
        </p:nvSpPr>
        <p:spPr/>
        <p:txBody>
          <a:bodyPr/>
          <a:lstStyle/>
          <a:p>
            <a:r>
              <a:rPr lang="en-IN"/>
              <a:t>CS7610  CAPSTONE PROJECT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9C2650B-1ACB-4813-963B-953911775E15}" type="datetime1">
              <a:rPr lang="en-IN" smtClean="0"/>
              <a:t>29-05-2024</a:t>
            </a:fld>
            <a:endParaRPr lang="en-IN"/>
          </a:p>
        </p:txBody>
      </p:sp>
      <p:sp>
        <p:nvSpPr>
          <p:cNvPr id="6" name="Footer Placeholder 5"/>
          <p:cNvSpPr>
            <a:spLocks noGrp="1"/>
          </p:cNvSpPr>
          <p:nvPr>
            <p:ph type="ftr" sz="quarter" idx="11"/>
          </p:nvPr>
        </p:nvSpPr>
        <p:spPr/>
        <p:txBody>
          <a:bodyPr/>
          <a:lstStyle/>
          <a:p>
            <a:r>
              <a:rPr lang="en-IN"/>
              <a:t>CS7610  CAPSTONE PROJECT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57F005-2524-41A9-A300-13C496052CAD}" type="datetime1">
              <a:rPr lang="en-IN" smtClean="0"/>
              <a:t>29-05-2024</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3B4B75A-49B6-4E0B-8D7F-CE8D920BEAFD}" type="datetime1">
              <a:rPr lang="en-IN" smtClean="0"/>
              <a:t>29-05-2024</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6052CB-3723-48DF-99C9-7A3B497FDA91}" type="datetime1">
              <a:rPr lang="en-IN" smtClean="0"/>
              <a:t>29-05-2024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CS7610  CAPSTONE PROJECT  ,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umdearborn.edu/people-um-dearborn/jaerock-kwo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kaggle.com/datasets/lincolnzh/martianlunar-crater-detection-dataset/dat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abs/2304.07764" TargetMode="External"/><Relationship Id="rId2" Type="http://schemas.openxmlformats.org/officeDocument/2006/relationships/hyperlink" Target="https://www.mdpi.com/1424-8220/24/8/2487" TargetMode="External"/><Relationship Id="rId1" Type="http://schemas.openxmlformats.org/officeDocument/2006/relationships/slideLayout" Target="../slideLayouts/slideLayout2.xml"/><Relationship Id="rId6" Type="http://schemas.openxmlformats.org/officeDocument/2006/relationships/hyperlink" Target="https://doi.org/10.3390/rs15205040" TargetMode="External"/><Relationship Id="rId5" Type="http://schemas.openxmlformats.org/officeDocument/2006/relationships/hyperlink" Target="https://doi.org/10.3390/rs13142819" TargetMode="External"/><Relationship Id="rId4" Type="http://schemas.openxmlformats.org/officeDocument/2006/relationships/hyperlink" Target="https://arxiv.org/abs/2310.0772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1701885"/>
            <a:ext cx="9144000" cy="4124194"/>
          </a:xfrm>
        </p:spPr>
        <p:txBody>
          <a:bodyPr/>
          <a:lstStyle/>
          <a:p>
            <a:r>
              <a:rPr lang="en-US" sz="4400" dirty="0">
                <a:latin typeface="Arial Narrow" panose="020B0606020202030204" pitchFamily="34" charset="0"/>
              </a:rPr>
              <a:t>Project Title: </a:t>
            </a:r>
            <a:r>
              <a:rPr lang="en-US" sz="4400" b="1" dirty="0">
                <a:latin typeface="Arial Narrow" panose="020B0606020202030204" pitchFamily="34" charset="0"/>
              </a:rPr>
              <a:t>Crater Detection Using Computer Vision Techniques</a:t>
            </a:r>
            <a:br>
              <a:rPr lang="en-US" sz="4400" b="1" dirty="0">
                <a:latin typeface="Arial Narrow" panose="020B0606020202030204" pitchFamily="34" charset="0"/>
              </a:rPr>
            </a:br>
            <a:br>
              <a:rPr lang="en-US" dirty="0">
                <a:latin typeface="Arial Narrow" panose="020B0606020202030204" pitchFamily="34" charset="0"/>
              </a:rPr>
            </a:br>
            <a:r>
              <a:rPr lang="en-US" sz="3600" dirty="0">
                <a:latin typeface="Arial Narrow" panose="020B0606020202030204" pitchFamily="34" charset="0"/>
              </a:rPr>
              <a:t>Domain: </a:t>
            </a:r>
            <a:r>
              <a:rPr lang="en-US" sz="3600" b="1" dirty="0">
                <a:latin typeface="Arial Narrow" panose="020B0606020202030204" pitchFamily="34" charset="0"/>
              </a:rPr>
              <a:t>Computer Vision</a:t>
            </a:r>
            <a:br>
              <a:rPr lang="en-US" dirty="0">
                <a:latin typeface="Arial Narrow" panose="020B0606020202030204" pitchFamily="34" charset="0"/>
              </a:rPr>
            </a:br>
            <a:r>
              <a:rPr lang="en-US" dirty="0">
                <a:latin typeface="Arial Narrow" panose="020B0606020202030204" pitchFamily="34" charset="0"/>
              </a:rPr>
              <a:t> </a:t>
            </a:r>
            <a:endParaRPr lang="en-IN"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Register Number: </a:t>
            </a:r>
            <a:r>
              <a:rPr lang="en-US" b="1" dirty="0">
                <a:latin typeface="Arial Narrow" panose="020B0606020202030204" pitchFamily="34" charset="0"/>
              </a:rPr>
              <a:t>23MSP3068</a:t>
            </a:r>
          </a:p>
          <a:p>
            <a:pPr algn="r"/>
            <a:r>
              <a:rPr lang="en-US" dirty="0">
                <a:latin typeface="Arial Narrow" panose="020B0606020202030204" pitchFamily="34" charset="0"/>
              </a:rPr>
              <a:t>Name: </a:t>
            </a:r>
            <a:r>
              <a:rPr lang="en-US" b="1" dirty="0">
                <a:latin typeface="Arial Narrow" panose="020B0606020202030204" pitchFamily="34" charset="0"/>
              </a:rPr>
              <a:t>Dharshani A.</a:t>
            </a:r>
          </a:p>
          <a:p>
            <a:pPr algn="r"/>
            <a:r>
              <a:rPr lang="en-US" dirty="0">
                <a:latin typeface="Arial Narrow" panose="020B0606020202030204" pitchFamily="34" charset="0"/>
              </a:rPr>
              <a:t>Date: </a:t>
            </a:r>
            <a:r>
              <a:rPr lang="en-US" b="1" dirty="0">
                <a:latin typeface="Arial Narrow" panose="020B0606020202030204" pitchFamily="34" charset="0"/>
              </a:rPr>
              <a:t>29-05-2024</a:t>
            </a:r>
            <a:endParaRPr lang="en-IN" b="1" dirty="0">
              <a:latin typeface="Arial Narrow" panose="020B0606020202030204" pitchFamily="34" charset="0"/>
            </a:endParaRPr>
          </a:p>
          <a:p>
            <a:pPr algn="r"/>
            <a:endParaRPr lang="en-IN"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342150" y="1696494"/>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Zeroth Review</a:t>
            </a:r>
            <a:endParaRPr lang="en-IN" sz="3200" b="1" dirty="0">
              <a:latin typeface="Arial Narrow" panose="020B0606020202030204" pitchFamily="34" charset="0"/>
            </a:endParaRPr>
          </a:p>
        </p:txBody>
      </p:sp>
      <p:sp>
        <p:nvSpPr>
          <p:cNvPr id="6" name="Rectangle 5"/>
          <p:cNvSpPr/>
          <p:nvPr/>
        </p:nvSpPr>
        <p:spPr>
          <a:xfrm>
            <a:off x="239843" y="4781862"/>
            <a:ext cx="3133277"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t>CS7610</a:t>
            </a:r>
            <a:endParaRPr lang="en-US" dirty="0">
              <a:latin typeface="Arial Narrow" panose="020B0606020202030204" pitchFamily="34" charset="0"/>
            </a:endParaRPr>
          </a:p>
          <a:p>
            <a:r>
              <a:rPr lang="en-US" b="1" dirty="0">
                <a:latin typeface="Arial Narrow" panose="020B0606020202030204" pitchFamily="34" charset="0"/>
              </a:rPr>
              <a:t>Course Title: </a:t>
            </a:r>
            <a:r>
              <a:rPr lang="en-US" dirty="0"/>
              <a:t>Capstone Project</a:t>
            </a:r>
          </a:p>
          <a:p>
            <a:r>
              <a:rPr lang="en-US" b="1" dirty="0">
                <a:latin typeface="Arial Narrow" panose="020B0606020202030204" pitchFamily="34" charset="0"/>
              </a:rPr>
              <a:t>Guide Name:</a:t>
            </a:r>
            <a:endParaRPr lang="en-IN" b="1" dirty="0">
              <a:latin typeface="Arial Narrow" panose="020B0606020202030204" pitchFamily="34" charset="0"/>
            </a:endParaRPr>
          </a:p>
        </p:txBody>
      </p:sp>
      <p:sp>
        <p:nvSpPr>
          <p:cNvPr id="7" name="Footer Placeholder 6"/>
          <p:cNvSpPr>
            <a:spLocks noGrp="1"/>
          </p:cNvSpPr>
          <p:nvPr>
            <p:ph type="ftr" sz="quarter" idx="11"/>
          </p:nvPr>
        </p:nvSpPr>
        <p:spPr>
          <a:xfrm>
            <a:off x="3277292" y="6356350"/>
            <a:ext cx="5637415" cy="325384"/>
          </a:xfrm>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b="1" dirty="0"/>
              <a:t>Name of the University: </a:t>
            </a:r>
            <a:r>
              <a:rPr lang="en-US" dirty="0"/>
              <a:t>University of Michigan-Dearborn</a:t>
            </a:r>
          </a:p>
          <a:p>
            <a:r>
              <a:rPr lang="en-US" b="1" dirty="0"/>
              <a:t>Program Name: </a:t>
            </a:r>
            <a:r>
              <a:rPr lang="en-US" dirty="0"/>
              <a:t>MS in Artificial Intelligence</a:t>
            </a:r>
          </a:p>
          <a:p>
            <a:r>
              <a:rPr lang="en-US" b="1" dirty="0"/>
              <a:t>Faculty Name: </a:t>
            </a:r>
            <a:r>
              <a:rPr lang="en-US" dirty="0"/>
              <a:t>Dr. </a:t>
            </a:r>
            <a:r>
              <a:rPr lang="en-US" dirty="0" err="1"/>
              <a:t>Jaerock</a:t>
            </a:r>
            <a:r>
              <a:rPr lang="en-US" dirty="0"/>
              <a:t> Kwon </a:t>
            </a:r>
            <a:r>
              <a:rPr lang="en-US" dirty="0">
                <a:hlinkClick r:id="rId2"/>
              </a:rPr>
              <a:t>Link to Professor's University Profile</a:t>
            </a:r>
            <a:endParaRPr lang="en-US" dirty="0"/>
          </a:p>
          <a:p>
            <a:r>
              <a:rPr lang="en-US" b="1" dirty="0"/>
              <a:t>Domain:</a:t>
            </a:r>
            <a:r>
              <a:rPr lang="en-US" dirty="0"/>
              <a:t> Computer Vision</a:t>
            </a:r>
          </a:p>
          <a:p>
            <a:r>
              <a:rPr lang="en-US" b="1" dirty="0"/>
              <a:t>Current Topic: </a:t>
            </a:r>
            <a:r>
              <a:rPr lang="en-US" dirty="0"/>
              <a:t>Computer Vision, Agricultural Robotics</a:t>
            </a:r>
            <a:endParaRPr lang="en-IN"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4042860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1528763" algn="l"/>
              </a:tabLst>
            </a:pPr>
            <a:r>
              <a:rPr lang="en-US" b="1" dirty="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pPr marL="0" indent="0">
              <a:buNone/>
            </a:pPr>
            <a:r>
              <a:rPr lang="en-US" dirty="0"/>
              <a:t>Planetary exploration has significantly advanced our understanding of celestial bodies within our solar system. Craters, formed by the impact of meteoroids, asteroids, and comets, are among the most prominent geological features on these surfaces. Analyzing these craters provides critical insights into the history and geology of planets and moons. However, manually identifying and cataloging craters from vast amounts of high-resolution imagery is time-consuming and prone to human error. Therefore, automated crater detection using computer vision techniques has become a crucial area of research.</a:t>
            </a:r>
            <a:endParaRPr lang="en-IN"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Tree>
    <p:extLst>
      <p:ext uri="{BB962C8B-B14F-4D97-AF65-F5344CB8AC3E}">
        <p14:creationId xmlns:p14="http://schemas.microsoft.com/office/powerpoint/2010/main" val="2898404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004817"/>
            <a:ext cx="10515600" cy="4351338"/>
          </a:xfrm>
        </p:spPr>
        <p:txBody>
          <a:bodyPr/>
          <a:lstStyle/>
          <a:p>
            <a:r>
              <a:rPr lang="en-US" dirty="0">
                <a:latin typeface="Arial Narrow" panose="020B0606020202030204" pitchFamily="34" charset="0"/>
              </a:rPr>
              <a:t>Source of the Dataset: Kaggle </a:t>
            </a:r>
            <a:r>
              <a:rPr lang="en-US" dirty="0">
                <a:latin typeface="Arial Narrow" panose="020B0606020202030204" pitchFamily="34" charset="0"/>
                <a:hlinkClick r:id="rId2"/>
              </a:rPr>
              <a:t>Link to Dataset</a:t>
            </a:r>
            <a:endParaRPr lang="en-US" dirty="0">
              <a:latin typeface="Arial Narrow" panose="020B0606020202030204" pitchFamily="34" charset="0"/>
            </a:endParaRPr>
          </a:p>
          <a:p>
            <a:r>
              <a:rPr lang="en-US" dirty="0">
                <a:latin typeface="Arial Narrow" panose="020B0606020202030204" pitchFamily="34" charset="0"/>
              </a:rPr>
              <a:t>No. of Observations: 143 images – 98 training images, 26 validation images, 19 testing images</a:t>
            </a:r>
          </a:p>
          <a:p>
            <a:r>
              <a:rPr lang="en-US" dirty="0">
                <a:latin typeface="Arial Narrow" panose="020B0606020202030204" pitchFamily="34" charset="0"/>
              </a:rPr>
              <a:t>Images: Planetary surface images containing craters</a:t>
            </a:r>
          </a:p>
          <a:p>
            <a:r>
              <a:rPr lang="en-US" dirty="0">
                <a:latin typeface="Arial Narrow" panose="020B0606020202030204" pitchFamily="34" charset="0"/>
              </a:rPr>
              <a:t>Labels: Annotations of crater locations in the images (bounding boxes)</a:t>
            </a:r>
          </a:p>
          <a:p>
            <a:r>
              <a:rPr lang="en-US" dirty="0">
                <a:latin typeface="Arial Narrow" panose="020B0606020202030204" pitchFamily="34" charset="0"/>
              </a:rPr>
              <a:t>Screenshot of the dataset:</a:t>
            </a:r>
          </a:p>
          <a:p>
            <a:endParaRPr lang="en-IN"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pic>
        <p:nvPicPr>
          <p:cNvPr id="7" name="Picture 6">
            <a:extLst>
              <a:ext uri="{FF2B5EF4-FFF2-40B4-BE49-F238E27FC236}">
                <a16:creationId xmlns:a16="http://schemas.microsoft.com/office/drawing/2014/main" id="{DEFB2B0B-9197-08E3-0DF0-AD579FEEA065}"/>
              </a:ext>
            </a:extLst>
          </p:cNvPr>
          <p:cNvPicPr>
            <a:picLocks noChangeAspect="1"/>
          </p:cNvPicPr>
          <p:nvPr/>
        </p:nvPicPr>
        <p:blipFill>
          <a:blip r:embed="rId3"/>
          <a:stretch>
            <a:fillRect/>
          </a:stretch>
        </p:blipFill>
        <p:spPr>
          <a:xfrm>
            <a:off x="4779570" y="3490173"/>
            <a:ext cx="3063949" cy="2908384"/>
          </a:xfrm>
          <a:prstGeom prst="rect">
            <a:avLst/>
          </a:prstGeom>
          <a:ln>
            <a:solidFill>
              <a:schemeClr val="tx1"/>
            </a:solidFill>
          </a:ln>
        </p:spPr>
      </p:pic>
    </p:spTree>
    <p:extLst>
      <p:ext uri="{BB962C8B-B14F-4D97-AF65-F5344CB8AC3E}">
        <p14:creationId xmlns:p14="http://schemas.microsoft.com/office/powerpoint/2010/main" val="2913472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Review of Related Literature</a:t>
            </a:r>
            <a:endParaRPr lang="en-IN" b="1" dirty="0">
              <a:latin typeface="Arial Narrow" panose="020B0606020202030204" pitchFamily="34" charset="0"/>
            </a:endParaRPr>
          </a:p>
        </p:txBody>
      </p:sp>
      <p:sp>
        <p:nvSpPr>
          <p:cNvPr id="3" name="Content Placeholder 2"/>
          <p:cNvSpPr>
            <a:spLocks noGrp="1"/>
          </p:cNvSpPr>
          <p:nvPr>
            <p:ph idx="1"/>
          </p:nvPr>
        </p:nvSpPr>
        <p:spPr>
          <a:xfrm>
            <a:off x="386080" y="1534160"/>
            <a:ext cx="11460480" cy="4958715"/>
          </a:xfrm>
        </p:spPr>
        <p:txBody>
          <a:bodyPr>
            <a:normAutofit fontScale="77500" lnSpcReduction="20000"/>
          </a:bodyPr>
          <a:lstStyle/>
          <a:p>
            <a:r>
              <a:rPr lang="en-US" b="1" dirty="0"/>
              <a:t>Base Paper: </a:t>
            </a:r>
          </a:p>
          <a:p>
            <a:r>
              <a:rPr lang="en-US" dirty="0"/>
              <a:t>Khanzada, F.K.; </a:t>
            </a:r>
            <a:r>
              <a:rPr lang="en-US" dirty="0" err="1"/>
              <a:t>Delavari</a:t>
            </a:r>
            <a:r>
              <a:rPr lang="en-US" dirty="0"/>
              <a:t>, E.; Jeong, W.; Cho, Y.S.; Kwon, J. “Comparative Study on Simulated Outdoor Navigation for Agricultural Robots.” Sensors 2024, 24, 2487. </a:t>
            </a:r>
            <a:r>
              <a:rPr lang="en-US" dirty="0">
                <a:hlinkClick r:id="rId2"/>
              </a:rPr>
              <a:t>Link to Paper</a:t>
            </a:r>
            <a:endParaRPr lang="en-US" dirty="0"/>
          </a:p>
          <a:p>
            <a:r>
              <a:rPr lang="en-US" b="1" dirty="0"/>
              <a:t>Paper I:</a:t>
            </a:r>
          </a:p>
          <a:p>
            <a:r>
              <a:rPr lang="en-US" dirty="0"/>
              <a:t>Citation: </a:t>
            </a:r>
            <a:r>
              <a:rPr lang="en-US" dirty="0" err="1"/>
              <a:t>Giannakis</a:t>
            </a:r>
            <a:r>
              <a:rPr lang="en-US" dirty="0"/>
              <a:t>, I., Bhardwaj, A., Sam, L., &amp; </a:t>
            </a:r>
            <a:r>
              <a:rPr lang="en-US" dirty="0" err="1"/>
              <a:t>Leontidis</a:t>
            </a:r>
            <a:r>
              <a:rPr lang="en-US" dirty="0"/>
              <a:t>, G. (2023). Deep learning universal crater detection using Segment Anything Model (SAM). </a:t>
            </a:r>
            <a:r>
              <a:rPr lang="en-US" dirty="0" err="1"/>
              <a:t>arXiv</a:t>
            </a:r>
            <a:r>
              <a:rPr lang="en-US" dirty="0"/>
              <a:t>. Retrieved from </a:t>
            </a:r>
            <a:r>
              <a:rPr lang="en-US" dirty="0">
                <a:hlinkClick r:id="rId3"/>
              </a:rPr>
              <a:t>Link to paper</a:t>
            </a:r>
            <a:endParaRPr lang="en-US" dirty="0"/>
          </a:p>
          <a:p>
            <a:r>
              <a:rPr lang="en-US" b="1" dirty="0"/>
              <a:t>Paper II:</a:t>
            </a:r>
          </a:p>
          <a:p>
            <a:r>
              <a:rPr lang="en-US" dirty="0"/>
              <a:t>Citation: (2023). Deep Learning based Systems for Crater Detection: A Review. </a:t>
            </a:r>
            <a:r>
              <a:rPr lang="en-US" dirty="0" err="1"/>
              <a:t>arXiv</a:t>
            </a:r>
            <a:r>
              <a:rPr lang="en-US" dirty="0"/>
              <a:t>. Retrieved from </a:t>
            </a:r>
            <a:r>
              <a:rPr lang="en-US" dirty="0">
                <a:hlinkClick r:id="rId4"/>
              </a:rPr>
              <a:t>Link to paper</a:t>
            </a:r>
            <a:endParaRPr lang="en-US" dirty="0"/>
          </a:p>
          <a:p>
            <a:r>
              <a:rPr lang="en-US" b="1" dirty="0"/>
              <a:t>Paper III:</a:t>
            </a:r>
          </a:p>
          <a:p>
            <a:r>
              <a:rPr lang="en-US" dirty="0"/>
              <a:t>Citation: Xian, L., &amp; Zhang, W. (2021). Semi-Supervised Deep Learning for Lunar Crater Detection Using CE-2 DOM. Remote Sensing, 13(14), 2819. </a:t>
            </a:r>
            <a:r>
              <a:rPr lang="en-US" dirty="0">
                <a:hlinkClick r:id="rId5"/>
              </a:rPr>
              <a:t>Link to paper</a:t>
            </a:r>
            <a:endParaRPr lang="en-US" dirty="0"/>
          </a:p>
          <a:p>
            <a:r>
              <a:rPr lang="en-US" b="1" dirty="0"/>
              <a:t>Paper IV:</a:t>
            </a:r>
          </a:p>
          <a:p>
            <a:r>
              <a:rPr lang="en-US" dirty="0"/>
              <a:t>Citation: Zhang, W. (2023). YOLO-Crater Model for Small Crater Detection. Remote Sensing, 15(20), 5040. </a:t>
            </a:r>
            <a:r>
              <a:rPr lang="en-US" dirty="0">
                <a:hlinkClick r:id="rId6"/>
              </a:rPr>
              <a:t>Link to paper</a:t>
            </a:r>
            <a:endParaRPr lang="en-US" dirty="0"/>
          </a:p>
          <a:p>
            <a:endParaRPr lang="en-US" dirty="0"/>
          </a:p>
          <a:p>
            <a:endParaRPr lang="en-US" dirty="0"/>
          </a:p>
          <a:p>
            <a:endParaRPr lang="en-IN"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3134518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DCF1C-9EDB-357A-35DF-6DA93B25C227}"/>
              </a:ext>
            </a:extLst>
          </p:cNvPr>
          <p:cNvSpPr>
            <a:spLocks noGrp="1"/>
          </p:cNvSpPr>
          <p:nvPr>
            <p:ph type="title"/>
          </p:nvPr>
        </p:nvSpPr>
        <p:spPr>
          <a:xfrm>
            <a:off x="797561" y="-211840"/>
            <a:ext cx="10515600" cy="1325563"/>
          </a:xfrm>
        </p:spPr>
        <p:txBody>
          <a:bodyPr>
            <a:normAutofit/>
          </a:bodyPr>
          <a:lstStyle/>
          <a:p>
            <a:r>
              <a:rPr lang="en-US" sz="3200" b="1" dirty="0">
                <a:latin typeface="Arial Narrow" panose="020B0606020202030204" pitchFamily="34" charset="0"/>
              </a:rPr>
              <a:t>Comparison Between Proposed Research and Base Paper</a:t>
            </a:r>
            <a:endParaRPr lang="en-IN" sz="3200" b="1" dirty="0">
              <a:latin typeface="Arial Narrow" panose="020B0606020202030204" pitchFamily="34" charset="0"/>
            </a:endParaRPr>
          </a:p>
        </p:txBody>
      </p:sp>
      <p:graphicFrame>
        <p:nvGraphicFramePr>
          <p:cNvPr id="7" name="Content Placeholder 6">
            <a:extLst>
              <a:ext uri="{FF2B5EF4-FFF2-40B4-BE49-F238E27FC236}">
                <a16:creationId xmlns:a16="http://schemas.microsoft.com/office/drawing/2014/main" id="{46B565E6-3966-5936-5041-3D8D415A3725}"/>
              </a:ext>
            </a:extLst>
          </p:cNvPr>
          <p:cNvGraphicFramePr>
            <a:graphicFrameLocks noGrp="1"/>
          </p:cNvGraphicFramePr>
          <p:nvPr>
            <p:ph idx="1"/>
            <p:extLst>
              <p:ext uri="{D42A27DB-BD31-4B8C-83A1-F6EECF244321}">
                <p14:modId xmlns:p14="http://schemas.microsoft.com/office/powerpoint/2010/main" val="979614036"/>
              </p:ext>
            </p:extLst>
          </p:nvPr>
        </p:nvGraphicFramePr>
        <p:xfrm>
          <a:off x="355600" y="741680"/>
          <a:ext cx="11460480" cy="5785513"/>
        </p:xfrm>
        <a:graphic>
          <a:graphicData uri="http://schemas.openxmlformats.org/drawingml/2006/table">
            <a:tbl>
              <a:tblPr firstRow="1" firstCol="1" bandRow="1">
                <a:tableStyleId>{5C22544A-7EE6-4342-B048-85BDC9FD1C3A}</a:tableStyleId>
              </a:tblPr>
              <a:tblGrid>
                <a:gridCol w="1618989">
                  <a:extLst>
                    <a:ext uri="{9D8B030D-6E8A-4147-A177-3AD203B41FA5}">
                      <a16:colId xmlns:a16="http://schemas.microsoft.com/office/drawing/2014/main" val="2253195211"/>
                    </a:ext>
                  </a:extLst>
                </a:gridCol>
                <a:gridCol w="5151328">
                  <a:extLst>
                    <a:ext uri="{9D8B030D-6E8A-4147-A177-3AD203B41FA5}">
                      <a16:colId xmlns:a16="http://schemas.microsoft.com/office/drawing/2014/main" val="3713785017"/>
                    </a:ext>
                  </a:extLst>
                </a:gridCol>
                <a:gridCol w="4690163">
                  <a:extLst>
                    <a:ext uri="{9D8B030D-6E8A-4147-A177-3AD203B41FA5}">
                      <a16:colId xmlns:a16="http://schemas.microsoft.com/office/drawing/2014/main" val="347431942"/>
                    </a:ext>
                  </a:extLst>
                </a:gridCol>
              </a:tblGrid>
              <a:tr h="263735">
                <a:tc>
                  <a:txBody>
                    <a:bodyPr/>
                    <a:lstStyle/>
                    <a:p>
                      <a:pPr algn="ctr">
                        <a:lnSpc>
                          <a:spcPct val="107000"/>
                        </a:lnSpc>
                        <a:spcAft>
                          <a:spcPts val="800"/>
                        </a:spcAft>
                      </a:pPr>
                      <a:r>
                        <a:rPr lang="en-IN" sz="1400" kern="0" dirty="0">
                          <a:solidFill>
                            <a:schemeClr val="tx1"/>
                          </a:solidFill>
                          <a:effectLst/>
                        </a:rPr>
                        <a:t>Feature/Aspect</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1400" kern="0" dirty="0">
                          <a:solidFill>
                            <a:schemeClr val="tx1"/>
                          </a:solidFill>
                          <a:effectLst/>
                        </a:rPr>
                        <a:t>Proposed Research</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1400" kern="0" dirty="0">
                          <a:solidFill>
                            <a:schemeClr val="tx1"/>
                          </a:solidFill>
                          <a:effectLst/>
                        </a:rPr>
                        <a:t>Base Paper</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5574589"/>
                  </a:ext>
                </a:extLst>
              </a:tr>
              <a:tr h="479328">
                <a:tc>
                  <a:txBody>
                    <a:bodyPr/>
                    <a:lstStyle/>
                    <a:p>
                      <a:pPr>
                        <a:lnSpc>
                          <a:spcPct val="107000"/>
                        </a:lnSpc>
                        <a:spcAft>
                          <a:spcPts val="800"/>
                        </a:spcAft>
                      </a:pPr>
                      <a:r>
                        <a:rPr lang="en-IN" sz="1400" kern="0" dirty="0">
                          <a:solidFill>
                            <a:schemeClr val="tx1"/>
                          </a:solidFill>
                          <a:effectLst/>
                        </a:rPr>
                        <a:t>Objective</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Develop and compare computer vision techniques for detecting craters in planetary surface images.</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Compare different simulated outdoor navigation techniques for agricultural robots.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6552604"/>
                  </a:ext>
                </a:extLst>
              </a:tr>
              <a:tr h="239683">
                <a:tc>
                  <a:txBody>
                    <a:bodyPr/>
                    <a:lstStyle/>
                    <a:p>
                      <a:pPr>
                        <a:lnSpc>
                          <a:spcPct val="107000"/>
                        </a:lnSpc>
                        <a:spcAft>
                          <a:spcPts val="800"/>
                        </a:spcAft>
                      </a:pPr>
                      <a:r>
                        <a:rPr lang="en-IN" sz="1400" kern="0">
                          <a:solidFill>
                            <a:schemeClr val="tx1"/>
                          </a:solidFill>
                          <a:effectLst/>
                        </a:rPr>
                        <a:t>Domain</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Computer Vision, Planetary Science</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Agricultural Robotics, Computer Vision</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8631442"/>
                  </a:ext>
                </a:extLst>
              </a:tr>
              <a:tr h="718973">
                <a:tc>
                  <a:txBody>
                    <a:bodyPr/>
                    <a:lstStyle/>
                    <a:p>
                      <a:pPr>
                        <a:lnSpc>
                          <a:spcPct val="107000"/>
                        </a:lnSpc>
                        <a:spcAft>
                          <a:spcPts val="800"/>
                        </a:spcAft>
                      </a:pPr>
                      <a:r>
                        <a:rPr lang="en-IN" sz="1400" kern="0">
                          <a:solidFill>
                            <a:schemeClr val="tx1"/>
                          </a:solidFill>
                          <a:effectLst/>
                        </a:rPr>
                        <a:t>Primary Focus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Accurate identification and localization of craters in various conditions to aid planetary exploration and research.</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Evaluating the performance, accuracy, and efficiency of various navigation algorithms for real-world application in agricultural settings.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76525"/>
                  </a:ext>
                </a:extLst>
              </a:tr>
              <a:tr h="239683">
                <a:tc>
                  <a:txBody>
                    <a:bodyPr/>
                    <a:lstStyle/>
                    <a:p>
                      <a:pPr>
                        <a:lnSpc>
                          <a:spcPct val="107000"/>
                        </a:lnSpc>
                        <a:spcAft>
                          <a:spcPts val="800"/>
                        </a:spcAft>
                      </a:pPr>
                      <a:r>
                        <a:rPr lang="en-IN" sz="1400" kern="0">
                          <a:solidFill>
                            <a:schemeClr val="tx1"/>
                          </a:solidFill>
                          <a:effectLst/>
                        </a:rPr>
                        <a:t>Key Techniques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 Deep learning (Faster R-CNN, YOLO)</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 Simulation environments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2851144"/>
                  </a:ext>
                </a:extLst>
              </a:tr>
              <a:tr h="277487">
                <a:tc>
                  <a:txBody>
                    <a:bodyPr/>
                    <a:lstStyle/>
                    <a:p>
                      <a:pPr>
                        <a:lnSpc>
                          <a:spcPct val="107000"/>
                        </a:lnSpc>
                        <a:spcAft>
                          <a:spcPts val="800"/>
                        </a:spcAft>
                      </a:pPr>
                      <a:r>
                        <a:rPr lang="en-IN" sz="1400" kern="0" dirty="0">
                          <a:solidFill>
                            <a:schemeClr val="tx1"/>
                          </a:solidFill>
                          <a:effectLst/>
                        </a:rPr>
                        <a:t>Dataset</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 Planetary surface images with annotated craters</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 Simulated outdoor environments for agricultural robots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7102054"/>
                  </a:ext>
                </a:extLst>
              </a:tr>
              <a:tr h="479328">
                <a:tc>
                  <a:txBody>
                    <a:bodyPr/>
                    <a:lstStyle/>
                    <a:p>
                      <a:pPr>
                        <a:lnSpc>
                          <a:spcPct val="107000"/>
                        </a:lnSpc>
                        <a:spcAft>
                          <a:spcPts val="800"/>
                        </a:spcAft>
                      </a:pPr>
                      <a:r>
                        <a:rPr lang="en-IN" sz="1400" kern="0">
                          <a:solidFill>
                            <a:schemeClr val="tx1"/>
                          </a:solidFill>
                          <a:effectLst/>
                        </a:rPr>
                        <a:t>Data Sources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 High-resolution planetary images from missions like Lunar Reconnaissance Orbiter (LRO), Mars Reconnaissance Orbiter (MRO)</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 Custom simulation environments replicating agricultural fields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8318494"/>
                  </a:ext>
                </a:extLst>
              </a:tr>
              <a:tr h="479328">
                <a:tc>
                  <a:txBody>
                    <a:bodyPr/>
                    <a:lstStyle/>
                    <a:p>
                      <a:pPr>
                        <a:lnSpc>
                          <a:spcPct val="107000"/>
                        </a:lnSpc>
                        <a:spcAft>
                          <a:spcPts val="800"/>
                        </a:spcAft>
                      </a:pPr>
                      <a:r>
                        <a:rPr lang="en-IN" sz="1400" kern="0">
                          <a:solidFill>
                            <a:schemeClr val="tx1"/>
                          </a:solidFill>
                          <a:effectLst/>
                        </a:rPr>
                        <a:t>Evaluation Metrics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 Precision, recall, F1-score, Intersection over Union (</a:t>
                      </a:r>
                      <a:r>
                        <a:rPr lang="en-IN" sz="1400" kern="0" dirty="0" err="1">
                          <a:solidFill>
                            <a:schemeClr val="tx1"/>
                          </a:solidFill>
                          <a:effectLst/>
                        </a:rPr>
                        <a:t>IoU</a:t>
                      </a:r>
                      <a:r>
                        <a:rPr lang="en-IN" sz="1400" kern="0" dirty="0">
                          <a:solidFill>
                            <a:schemeClr val="tx1"/>
                          </a:solidFill>
                          <a:effectLst/>
                        </a:rPr>
                        <a:t>)</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 Accuracy of navigation, obstacle avoidance success rate, computational efficiency</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325845"/>
                  </a:ext>
                </a:extLst>
              </a:tr>
              <a:tr h="479328">
                <a:tc>
                  <a:txBody>
                    <a:bodyPr/>
                    <a:lstStyle/>
                    <a:p>
                      <a:pPr>
                        <a:lnSpc>
                          <a:spcPct val="107000"/>
                        </a:lnSpc>
                        <a:spcAft>
                          <a:spcPts val="800"/>
                        </a:spcAft>
                      </a:pPr>
                      <a:r>
                        <a:rPr lang="en-IN" sz="1400" kern="0" dirty="0">
                          <a:solidFill>
                            <a:schemeClr val="tx1"/>
                          </a:solidFill>
                          <a:effectLst/>
                        </a:rPr>
                        <a:t>Challenges Addressed</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 Variability in crater appearance (size, shape, degradation)</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 Navigation in diverse and unpredictable agricultural environments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663306"/>
                  </a:ext>
                </a:extLst>
              </a:tr>
              <a:tr h="479328">
                <a:tc>
                  <a:txBody>
                    <a:bodyPr/>
                    <a:lstStyle/>
                    <a:p>
                      <a:pPr>
                        <a:lnSpc>
                          <a:spcPct val="107000"/>
                        </a:lnSpc>
                        <a:spcAft>
                          <a:spcPts val="800"/>
                        </a:spcAft>
                      </a:pPr>
                      <a:r>
                        <a:rPr lang="en-IN" sz="1400" kern="0">
                          <a:solidFill>
                            <a:schemeClr val="tx1"/>
                          </a:solidFill>
                          <a:effectLst/>
                        </a:rPr>
                        <a:t>Impact</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 Improved planetary mapping, aiding scientific research, and enhancing autonomous rover capabilities.</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 Improved efficiency and reliability of agricultural robots, enhancing agricultural productivity and reducing </a:t>
                      </a:r>
                      <a:r>
                        <a:rPr lang="en-IN" sz="1400" kern="0" dirty="0" err="1">
                          <a:solidFill>
                            <a:schemeClr val="tx1"/>
                          </a:solidFill>
                          <a:effectLst/>
                        </a:rPr>
                        <a:t>labor</a:t>
                      </a:r>
                      <a:r>
                        <a:rPr lang="en-IN" sz="1400" kern="0" dirty="0">
                          <a:solidFill>
                            <a:schemeClr val="tx1"/>
                          </a:solidFill>
                          <a:effectLst/>
                        </a:rPr>
                        <a:t> costs.</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5547401"/>
                  </a:ext>
                </a:extLst>
              </a:tr>
              <a:tr h="479328">
                <a:tc>
                  <a:txBody>
                    <a:bodyPr/>
                    <a:lstStyle/>
                    <a:p>
                      <a:pPr>
                        <a:lnSpc>
                          <a:spcPct val="107000"/>
                        </a:lnSpc>
                        <a:spcAft>
                          <a:spcPts val="800"/>
                        </a:spcAft>
                      </a:pPr>
                      <a:r>
                        <a:rPr lang="en-IN" sz="1400" kern="0">
                          <a:solidFill>
                            <a:schemeClr val="tx1"/>
                          </a:solidFill>
                          <a:effectLst/>
                        </a:rPr>
                        <a:t>Key Contributions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 Development of robust crater detection models applicable to different planetary surfaces.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 Insights into the most effective navigation techniques for real-world agricultural robot deployment.</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8956590"/>
                  </a:ext>
                </a:extLst>
              </a:tr>
              <a:tr h="479328">
                <a:tc>
                  <a:txBody>
                    <a:bodyPr/>
                    <a:lstStyle/>
                    <a:p>
                      <a:pPr>
                        <a:lnSpc>
                          <a:spcPct val="107000"/>
                        </a:lnSpc>
                        <a:spcAft>
                          <a:spcPts val="800"/>
                        </a:spcAft>
                      </a:pPr>
                      <a:r>
                        <a:rPr lang="en-IN" sz="1400" kern="0">
                          <a:solidFill>
                            <a:schemeClr val="tx1"/>
                          </a:solidFill>
                          <a:effectLst/>
                        </a:rPr>
                        <a:t>Technological Requirements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a:solidFill>
                            <a:schemeClr val="tx1"/>
                          </a:solidFill>
                          <a:effectLst/>
                        </a:rPr>
                        <a:t>- High-performance GPUs for training deep learning models, computer vision libraries (OpenCV, PyTorch, TensorFlow)</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 Simulation software, robotic platforms, and potentially GPU acceleration for running complex simulations.</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47066"/>
                  </a:ext>
                </a:extLst>
              </a:tr>
              <a:tr h="690656">
                <a:tc>
                  <a:txBody>
                    <a:bodyPr/>
                    <a:lstStyle/>
                    <a:p>
                      <a:pPr>
                        <a:lnSpc>
                          <a:spcPct val="107000"/>
                        </a:lnSpc>
                        <a:spcAft>
                          <a:spcPts val="800"/>
                        </a:spcAft>
                      </a:pPr>
                      <a:r>
                        <a:rPr lang="en-IN" sz="1400" kern="0">
                          <a:solidFill>
                            <a:schemeClr val="tx1"/>
                          </a:solidFill>
                          <a:effectLst/>
                        </a:rPr>
                        <a:t>Research Outcomes</a:t>
                      </a:r>
                      <a:endParaRPr lang="en-IN" sz="1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 Creation of accurate and efficient crater detection models, benchmark datasets for future research.</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400" kern="0" dirty="0">
                          <a:solidFill>
                            <a:schemeClr val="tx1"/>
                          </a:solidFill>
                          <a:effectLst/>
                        </a:rPr>
                        <a:t>- Comparative analysis of navigation algorithms, recommendations for best practices in agricultural robot navigation.</a:t>
                      </a:r>
                      <a:endParaRPr lang="en-IN"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66" marR="5066" marT="5066" marB="506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384081"/>
                  </a:ext>
                </a:extLst>
              </a:tr>
            </a:tbl>
          </a:graphicData>
        </a:graphic>
      </p:graphicFrame>
      <p:sp>
        <p:nvSpPr>
          <p:cNvPr id="4" name="Footer Placeholder 3">
            <a:extLst>
              <a:ext uri="{FF2B5EF4-FFF2-40B4-BE49-F238E27FC236}">
                <a16:creationId xmlns:a16="http://schemas.microsoft.com/office/drawing/2014/main" id="{00DF3A9D-FC5D-A8DF-75D6-B44349343DEC}"/>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54575312-DFC1-B559-B128-312CD9362AC2}"/>
              </a:ext>
            </a:extLst>
          </p:cNvPr>
          <p:cNvSpPr>
            <a:spLocks noGrp="1"/>
          </p:cNvSpPr>
          <p:nvPr>
            <p:ph type="sldNum" sz="quarter" idx="12"/>
          </p:nvPr>
        </p:nvSpPr>
        <p:spPr/>
        <p:txBody>
          <a:bodyPr/>
          <a:lstStyle/>
          <a:p>
            <a:fld id="{90EDC104-672A-4227-99C4-0E2CC007FDBA}" type="slidenum">
              <a:rPr lang="en-IN" smtClean="0"/>
              <a:t>6</a:t>
            </a:fld>
            <a:endParaRPr lang="en-IN"/>
          </a:p>
        </p:txBody>
      </p:sp>
    </p:spTree>
    <p:extLst>
      <p:ext uri="{BB962C8B-B14F-4D97-AF65-F5344CB8AC3E}">
        <p14:creationId xmlns:p14="http://schemas.microsoft.com/office/powerpoint/2010/main" val="2898540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Impact of the Proposed Research </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r>
              <a:rPr lang="en-US" dirty="0"/>
              <a:t>The proposed research aims to improve the accuracy and efficiency of crater detection in planetary images using advanced computer vision techniques. </a:t>
            </a:r>
          </a:p>
          <a:p>
            <a:r>
              <a:rPr lang="en-US" dirty="0"/>
              <a:t>Accurate crater detection is crucial for planetary mapping, exploration, and research. </a:t>
            </a:r>
          </a:p>
          <a:p>
            <a:r>
              <a:rPr lang="en-US" dirty="0"/>
              <a:t>The results of this project could enhance the capabilities of autonomous planetary rovers and aid scientists in studying the geological history of planetary bodies.</a:t>
            </a:r>
          </a:p>
          <a:p>
            <a:pPr marL="0" indent="0">
              <a:buNone/>
            </a:pPr>
            <a:endParaRPr lang="en-US" dirty="0"/>
          </a:p>
          <a:p>
            <a:pPr marL="0" indent="0">
              <a:buNone/>
            </a:pPr>
            <a:endParaRPr lang="en-IN"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7</a:t>
            </a:fld>
            <a:endParaRPr lang="en-IN"/>
          </a:p>
        </p:txBody>
      </p:sp>
    </p:spTree>
    <p:extLst>
      <p:ext uri="{BB962C8B-B14F-4D97-AF65-F5344CB8AC3E}">
        <p14:creationId xmlns:p14="http://schemas.microsoft.com/office/powerpoint/2010/main" val="1125428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TotalTime>
  <Words>891</Words>
  <Application>Microsoft Office PowerPoint</Application>
  <PresentationFormat>Widescreen</PresentationFormat>
  <Paragraphs>92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Narrow</vt:lpstr>
      <vt:lpstr>Calibri</vt:lpstr>
      <vt:lpstr>Calibri Light</vt:lpstr>
      <vt:lpstr>Office Theme</vt:lpstr>
      <vt:lpstr>Project Title: Crater Detection Using Computer Vision Techniques  Domain: Computer Vision  </vt:lpstr>
      <vt:lpstr>PowerPoint Presentation</vt:lpstr>
      <vt:lpstr>Problem Statement</vt:lpstr>
      <vt:lpstr>Dataset</vt:lpstr>
      <vt:lpstr>Review of Related Literature</vt:lpstr>
      <vt:lpstr>Comparison Between Proposed Research and Base Paper</vt:lpstr>
      <vt:lpstr>Impact of the Proposed Research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Dharshani A</cp:lastModifiedBy>
  <cp:revision>9</cp:revision>
  <dcterms:created xsi:type="dcterms:W3CDTF">2023-11-15T14:09:37Z</dcterms:created>
  <dcterms:modified xsi:type="dcterms:W3CDTF">2024-05-29T07:26:45Z</dcterms:modified>
</cp:coreProperties>
</file>