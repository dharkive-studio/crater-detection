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61" r:id="rId3"/>
    <p:sldId id="276" r:id="rId4"/>
    <p:sldId id="257" r:id="rId5"/>
    <p:sldId id="275" r:id="rId6"/>
    <p:sldId id="258" r:id="rId7"/>
    <p:sldId id="264" r:id="rId8"/>
    <p:sldId id="265" r:id="rId9"/>
    <p:sldId id="266" r:id="rId10"/>
    <p:sldId id="267" r:id="rId11"/>
    <p:sldId id="270" r:id="rId12"/>
    <p:sldId id="273" r:id="rId13"/>
    <p:sldId id="272" r:id="rId14"/>
    <p:sldId id="274" r:id="rId15"/>
    <p:sldId id="280" r:id="rId16"/>
    <p:sldId id="277" r:id="rId17"/>
    <p:sldId id="279" r:id="rId18"/>
    <p:sldId id="268" r:id="rId19"/>
    <p:sldId id="278" r:id="rId20"/>
    <p:sldId id="25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21-06-2024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B8B41CC-6075-4FE4-9FF3-D2DD3E5C3D77}" type="datetime1">
              <a:rPr lang="en-IN" smtClean="0"/>
              <a:t>21-06-2024</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506891F-7347-4431-97AD-C01C892A47C1}" type="datetime1">
              <a:rPr lang="en-IN" smtClean="0"/>
              <a:t>21-06-2024</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E399DAC-F3BF-4AE7-BE2E-9341E5DDBCD3}" type="datetime1">
              <a:rPr lang="en-IN" smtClean="0"/>
              <a:t>21-06-2024</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55E4086-DDDF-4A3E-B65E-529ECDF388F6}" type="datetime1">
              <a:rPr lang="en-IN" smtClean="0"/>
              <a:t>21-06-2024</a:t>
            </a:fld>
            <a:endParaRPr lang="en-IN"/>
          </a:p>
        </p:txBody>
      </p:sp>
      <p:sp>
        <p:nvSpPr>
          <p:cNvPr id="6" name="Footer Placeholder 5"/>
          <p:cNvSpPr>
            <a:spLocks noGrp="1"/>
          </p:cNvSpPr>
          <p:nvPr>
            <p:ph type="ftr" sz="quarter" idx="11"/>
          </p:nvPr>
        </p:nvSpPr>
        <p:spPr/>
        <p:txBody>
          <a:bodyPr/>
          <a:lstStyle/>
          <a:p>
            <a:r>
              <a:rPr lang="en-IN"/>
              <a:t>CS7610  CAPSTONE PROJECT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33513FC-6062-41F3-9506-42D77E50035C}" type="datetime1">
              <a:rPr lang="en-IN" smtClean="0"/>
              <a:t>21-06-2024</a:t>
            </a:fld>
            <a:endParaRPr lang="en-IN"/>
          </a:p>
        </p:txBody>
      </p:sp>
      <p:sp>
        <p:nvSpPr>
          <p:cNvPr id="8" name="Footer Placeholder 7"/>
          <p:cNvSpPr>
            <a:spLocks noGrp="1"/>
          </p:cNvSpPr>
          <p:nvPr>
            <p:ph type="ftr" sz="quarter" idx="11"/>
          </p:nvPr>
        </p:nvSpPr>
        <p:spPr/>
        <p:txBody>
          <a:bodyPr/>
          <a:lstStyle/>
          <a:p>
            <a:r>
              <a:rPr lang="en-IN"/>
              <a:t>CS7610  CAPSTONE PROJECT  ,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5102EA7-AD0C-46EE-A861-FB9E38FE8195}" type="datetime1">
              <a:rPr lang="en-IN" smtClean="0"/>
              <a:t>21-06-2024</a:t>
            </a:fld>
            <a:endParaRPr lang="en-IN"/>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2B88AD-DB7D-43DC-886B-B7C39580BEA8}" type="datetime1">
              <a:rPr lang="en-IN" smtClean="0"/>
              <a:t>21-06-2024</a:t>
            </a:fld>
            <a:endParaRPr lang="en-IN"/>
          </a:p>
        </p:txBody>
      </p:sp>
      <p:sp>
        <p:nvSpPr>
          <p:cNvPr id="3" name="Footer Placeholder 2"/>
          <p:cNvSpPr>
            <a:spLocks noGrp="1"/>
          </p:cNvSpPr>
          <p:nvPr>
            <p:ph type="ftr" sz="quarter" idx="11"/>
          </p:nvPr>
        </p:nvSpPr>
        <p:spPr/>
        <p:txBody>
          <a:bodyPr/>
          <a:lstStyle/>
          <a:p>
            <a:r>
              <a:rPr lang="en-IN"/>
              <a:t>CS7610  CAPSTONE PROJECT  ,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CA412B5-2974-490E-B565-58B5859EF588}" type="datetime1">
              <a:rPr lang="en-IN" smtClean="0"/>
              <a:t>21-06-2024</a:t>
            </a:fld>
            <a:endParaRPr lang="en-IN"/>
          </a:p>
        </p:txBody>
      </p:sp>
      <p:sp>
        <p:nvSpPr>
          <p:cNvPr id="6" name="Footer Placeholder 5"/>
          <p:cNvSpPr>
            <a:spLocks noGrp="1"/>
          </p:cNvSpPr>
          <p:nvPr>
            <p:ph type="ftr" sz="quarter" idx="11"/>
          </p:nvPr>
        </p:nvSpPr>
        <p:spPr/>
        <p:txBody>
          <a:bodyPr/>
          <a:lstStyle/>
          <a:p>
            <a:r>
              <a:rPr lang="en-IN"/>
              <a:t>CS7610  CAPSTONE PROJECT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9C2650B-1ACB-4813-963B-953911775E15}" type="datetime1">
              <a:rPr lang="en-IN" smtClean="0"/>
              <a:t>21-06-2024</a:t>
            </a:fld>
            <a:endParaRPr lang="en-IN"/>
          </a:p>
        </p:txBody>
      </p:sp>
      <p:sp>
        <p:nvSpPr>
          <p:cNvPr id="6" name="Footer Placeholder 5"/>
          <p:cNvSpPr>
            <a:spLocks noGrp="1"/>
          </p:cNvSpPr>
          <p:nvPr>
            <p:ph type="ftr" sz="quarter" idx="11"/>
          </p:nvPr>
        </p:nvSpPr>
        <p:spPr/>
        <p:txBody>
          <a:bodyPr/>
          <a:lstStyle/>
          <a:p>
            <a:r>
              <a:rPr lang="en-IN"/>
              <a:t>CS7610  CAPSTONE PROJECT  ,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57F005-2524-41A9-A300-13C496052CAD}" type="datetime1">
              <a:rPr lang="en-IN" smtClean="0"/>
              <a:t>21-06-2024</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3B4B75A-49B6-4E0B-8D7F-CE8D920BEAFD}" type="datetime1">
              <a:rPr lang="en-IN" smtClean="0"/>
              <a:t>21-06-2024</a:t>
            </a:fld>
            <a:endParaRPr lang="en-IN"/>
          </a:p>
        </p:txBody>
      </p:sp>
      <p:sp>
        <p:nvSpPr>
          <p:cNvPr id="5" name="Footer Placeholder 4"/>
          <p:cNvSpPr>
            <a:spLocks noGrp="1"/>
          </p:cNvSpPr>
          <p:nvPr>
            <p:ph type="ftr" sz="quarter" idx="11"/>
          </p:nvPr>
        </p:nvSpPr>
        <p:spPr/>
        <p:txBody>
          <a:bodyPr/>
          <a:lstStyle/>
          <a:p>
            <a:r>
              <a:rPr lang="en-IN"/>
              <a:t>CS7610  CAPSTONE PROJECT  ,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6052CB-3723-48DF-99C9-7A3B497FDA91}" type="datetime1">
              <a:rPr lang="en-IN" smtClean="0"/>
              <a:t>21-06-2024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CS7610  CAPSTONE PROJECT  ,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umdearborn.edu/people-um-dearborn/jaerock-kwo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hyperlink" Target="https://www.kaggle.com/datasets/lincolnzh/martianlunar-crater-detection-dataset/data"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1701885"/>
            <a:ext cx="9144000" cy="4124194"/>
          </a:xfrm>
        </p:spPr>
        <p:txBody>
          <a:bodyPr/>
          <a:lstStyle/>
          <a:p>
            <a:r>
              <a:rPr lang="en-US" sz="4400" dirty="0">
                <a:latin typeface="Arial Narrow" panose="020B0606020202030204" pitchFamily="34" charset="0"/>
              </a:rPr>
              <a:t>Project Title: </a:t>
            </a:r>
            <a:r>
              <a:rPr lang="en-US" sz="4400" b="1" dirty="0">
                <a:latin typeface="Arial Narrow" panose="020B0606020202030204" pitchFamily="34" charset="0"/>
              </a:rPr>
              <a:t>Crater Detection Using Computer Vision Techniques</a:t>
            </a:r>
            <a:br>
              <a:rPr lang="en-US" sz="4400" b="1" dirty="0">
                <a:latin typeface="Arial Narrow" panose="020B0606020202030204" pitchFamily="34" charset="0"/>
              </a:rPr>
            </a:br>
            <a:br>
              <a:rPr lang="en-US" dirty="0">
                <a:latin typeface="Arial Narrow" panose="020B0606020202030204" pitchFamily="34" charset="0"/>
              </a:rPr>
            </a:br>
            <a:r>
              <a:rPr lang="en-US" sz="3600" dirty="0">
                <a:latin typeface="Arial Narrow" panose="020B0606020202030204" pitchFamily="34" charset="0"/>
              </a:rPr>
              <a:t>Domain: </a:t>
            </a:r>
            <a:r>
              <a:rPr lang="en-US" sz="3600" b="1" dirty="0">
                <a:latin typeface="Arial Narrow" panose="020B0606020202030204" pitchFamily="34" charset="0"/>
              </a:rPr>
              <a:t>Computer Vision</a:t>
            </a:r>
            <a:br>
              <a:rPr lang="en-US" dirty="0">
                <a:latin typeface="Arial Narrow" panose="020B0606020202030204" pitchFamily="34" charset="0"/>
              </a:rPr>
            </a:br>
            <a:r>
              <a:rPr lang="en-US" dirty="0">
                <a:latin typeface="Arial Narrow" panose="020B0606020202030204" pitchFamily="34" charset="0"/>
              </a:rPr>
              <a:t> </a:t>
            </a:r>
            <a:endParaRPr lang="en-IN"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Register Number: </a:t>
            </a:r>
            <a:r>
              <a:rPr lang="en-US" b="1" dirty="0">
                <a:latin typeface="Arial Narrow" panose="020B0606020202030204" pitchFamily="34" charset="0"/>
              </a:rPr>
              <a:t>23MSP3068</a:t>
            </a:r>
          </a:p>
          <a:p>
            <a:pPr algn="r"/>
            <a:r>
              <a:rPr lang="en-US" dirty="0">
                <a:latin typeface="Arial Narrow" panose="020B0606020202030204" pitchFamily="34" charset="0"/>
              </a:rPr>
              <a:t>Name: </a:t>
            </a:r>
            <a:r>
              <a:rPr lang="en-US" b="1" dirty="0">
                <a:latin typeface="Arial Narrow" panose="020B0606020202030204" pitchFamily="34" charset="0"/>
              </a:rPr>
              <a:t>Dharshani A.</a:t>
            </a:r>
          </a:p>
          <a:p>
            <a:pPr algn="r"/>
            <a:r>
              <a:rPr lang="en-US" dirty="0">
                <a:latin typeface="Arial Narrow" panose="020B0606020202030204" pitchFamily="34" charset="0"/>
              </a:rPr>
              <a:t>Date: </a:t>
            </a:r>
            <a:r>
              <a:rPr lang="en-US" b="1" dirty="0">
                <a:latin typeface="Arial Narrow" panose="020B0606020202030204" pitchFamily="34" charset="0"/>
              </a:rPr>
              <a:t>21-06-2024</a:t>
            </a:r>
            <a:endParaRPr lang="en-IN" b="1" dirty="0">
              <a:latin typeface="Arial Narrow" panose="020B0606020202030204" pitchFamily="34" charset="0"/>
            </a:endParaRPr>
          </a:p>
          <a:p>
            <a:pPr algn="r"/>
            <a:endParaRPr lang="en-IN" dirty="0">
              <a:latin typeface="Arial Narrow" panose="020B0606020202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342150" y="1696494"/>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Final Review</a:t>
            </a:r>
            <a:endParaRPr lang="en-IN" sz="3200" b="1" dirty="0">
              <a:latin typeface="Arial Narrow" panose="020B0606020202030204" pitchFamily="34" charset="0"/>
            </a:endParaRPr>
          </a:p>
        </p:txBody>
      </p:sp>
      <p:sp>
        <p:nvSpPr>
          <p:cNvPr id="6" name="Rectangle 5"/>
          <p:cNvSpPr/>
          <p:nvPr/>
        </p:nvSpPr>
        <p:spPr>
          <a:xfrm>
            <a:off x="239843" y="4781862"/>
            <a:ext cx="3133277"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t>CS7610</a:t>
            </a:r>
            <a:endParaRPr lang="en-US" dirty="0">
              <a:latin typeface="Arial Narrow" panose="020B0606020202030204" pitchFamily="34" charset="0"/>
            </a:endParaRPr>
          </a:p>
          <a:p>
            <a:r>
              <a:rPr lang="en-US" b="1" dirty="0">
                <a:latin typeface="Arial Narrow" panose="020B0606020202030204" pitchFamily="34" charset="0"/>
              </a:rPr>
              <a:t>Course Title: </a:t>
            </a:r>
            <a:r>
              <a:rPr lang="en-US" dirty="0"/>
              <a:t>Capstone Project</a:t>
            </a:r>
          </a:p>
          <a:p>
            <a:r>
              <a:rPr lang="en-US" b="1" dirty="0">
                <a:latin typeface="Arial Narrow" panose="020B0606020202030204" pitchFamily="34" charset="0"/>
              </a:rPr>
              <a:t>Guide Name:</a:t>
            </a:r>
            <a:endParaRPr lang="en-IN" b="1" dirty="0">
              <a:latin typeface="Arial Narrow" panose="020B0606020202030204" pitchFamily="34" charset="0"/>
            </a:endParaRPr>
          </a:p>
        </p:txBody>
      </p:sp>
      <p:sp>
        <p:nvSpPr>
          <p:cNvPr id="7" name="Footer Placeholder 6"/>
          <p:cNvSpPr>
            <a:spLocks noGrp="1"/>
          </p:cNvSpPr>
          <p:nvPr>
            <p:ph type="ftr" sz="quarter" idx="11"/>
          </p:nvPr>
        </p:nvSpPr>
        <p:spPr>
          <a:xfrm>
            <a:off x="3277292" y="6356350"/>
            <a:ext cx="5637415" cy="325384"/>
          </a:xfrm>
        </p:spPr>
        <p:txBody>
          <a:bodyPr/>
          <a:lstStyle/>
          <a:p>
            <a:r>
              <a:rPr lang="en-US" b="1" dirty="0"/>
              <a:t>CS7610</a:t>
            </a:r>
            <a:endParaRPr lang="en-US" b="1" dirty="0">
              <a:latin typeface="Arial Narrow" panose="020B0606020202030204" pitchFamily="34" charset="0"/>
            </a:endParaRPr>
          </a:p>
          <a:p>
            <a:r>
              <a:rPr lang="en-IN" b="1" dirty="0">
                <a:latin typeface="Arial Narrow" panose="020B0606020202030204" pitchFamily="34" charset="0"/>
              </a:rPr>
              <a:t> CAPSTONE PROJECT  , PGP, ICER, VIT Bangalore</a:t>
            </a: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b="1" dirty="0"/>
              <a:t>Name of the University: </a:t>
            </a:r>
            <a:r>
              <a:rPr lang="en-US" dirty="0"/>
              <a:t>University of Michigan-Dearborn</a:t>
            </a:r>
          </a:p>
          <a:p>
            <a:r>
              <a:rPr lang="en-US" b="1" dirty="0"/>
              <a:t>Program Name: </a:t>
            </a:r>
            <a:r>
              <a:rPr lang="en-US" dirty="0"/>
              <a:t>MS in Artificial Intelligence</a:t>
            </a:r>
          </a:p>
          <a:p>
            <a:r>
              <a:rPr lang="en-US" b="1" dirty="0"/>
              <a:t>Faculty Name: </a:t>
            </a:r>
            <a:r>
              <a:rPr lang="en-US" dirty="0"/>
              <a:t>Dr. </a:t>
            </a:r>
            <a:r>
              <a:rPr lang="en-US" dirty="0" err="1"/>
              <a:t>Jaerock</a:t>
            </a:r>
            <a:r>
              <a:rPr lang="en-US" dirty="0"/>
              <a:t> Kwon </a:t>
            </a:r>
            <a:r>
              <a:rPr lang="en-US" dirty="0">
                <a:hlinkClick r:id="rId2"/>
              </a:rPr>
              <a:t>Link to Professor's University Profile</a:t>
            </a:r>
            <a:endParaRPr lang="en-US" dirty="0"/>
          </a:p>
          <a:p>
            <a:r>
              <a:rPr lang="en-US" b="1" dirty="0"/>
              <a:t>Domain:</a:t>
            </a:r>
            <a:r>
              <a:rPr lang="en-US" dirty="0"/>
              <a:t> Computer Vision</a:t>
            </a:r>
          </a:p>
          <a:p>
            <a:r>
              <a:rPr lang="en-US" b="1" dirty="0"/>
              <a:t>Current Topic: </a:t>
            </a:r>
            <a:r>
              <a:rPr lang="en-US" dirty="0"/>
              <a:t>Computer Vision, Agricultural Robotics</a:t>
            </a:r>
            <a:endParaRPr lang="en-IN"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spTree>
    <p:extLst>
      <p:ext uri="{BB962C8B-B14F-4D97-AF65-F5344CB8AC3E}">
        <p14:creationId xmlns:p14="http://schemas.microsoft.com/office/powerpoint/2010/main" val="4042860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5639A-4DA2-FCAC-3EF2-98D65624EACD}"/>
              </a:ext>
            </a:extLst>
          </p:cNvPr>
          <p:cNvSpPr>
            <a:spLocks noGrp="1"/>
          </p:cNvSpPr>
          <p:nvPr>
            <p:ph type="title"/>
          </p:nvPr>
        </p:nvSpPr>
        <p:spPr>
          <a:xfrm>
            <a:off x="838200" y="212725"/>
            <a:ext cx="10515600" cy="1325563"/>
          </a:xfrm>
        </p:spPr>
        <p:txBody>
          <a:bodyPr/>
          <a:lstStyle/>
          <a:p>
            <a:r>
              <a:rPr lang="en-US" b="1" dirty="0">
                <a:latin typeface="Arial Narrow" panose="020B0606020202030204" pitchFamily="34" charset="0"/>
              </a:rPr>
              <a:t>Abstract</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DA9DD2C9-3D79-777B-9322-22A17FCFBC19}"/>
              </a:ext>
            </a:extLst>
          </p:cNvPr>
          <p:cNvSpPr>
            <a:spLocks noGrp="1"/>
          </p:cNvSpPr>
          <p:nvPr>
            <p:ph idx="1"/>
          </p:nvPr>
        </p:nvSpPr>
        <p:spPr>
          <a:xfrm>
            <a:off x="487680" y="1538289"/>
            <a:ext cx="11247120" cy="4903151"/>
          </a:xfrm>
        </p:spPr>
        <p:txBody>
          <a:bodyPr>
            <a:normAutofit fontScale="85000" lnSpcReduction="20000"/>
          </a:bodyPr>
          <a:lstStyle/>
          <a:p>
            <a:pPr marL="0" indent="0">
              <a:buNone/>
            </a:pPr>
            <a:r>
              <a:rPr lang="en-US" sz="2900" dirty="0"/>
              <a:t>Planetary exploration has significantly advanced our understanding of celestial bodies within our solar system. Craters formed by the impacts of meteoroids, asteroids, and comets are among the most prominent geological features on these surfaces. Analyzing these craters provides critical insights into the history and geology of planets and moons. However, manually identifying and cataloging craters from vast amounts of high-resolution imagery is time-consuming and prone to human error. This project proposes an automated crater detection system using computer vision techniques. By leveraging deep learning models, specifically Convolutional Neural Networks (CNNs) and Faster R-CNN, we aim to enhance the accuracy and efficiency of crater detection. The results demonstrate that the proposed models, particularly the Faster R-CNN, achieve high accuracy and stability in both validation and test datasets, thus proving to be highly effective for automated crater detection.</a:t>
            </a:r>
          </a:p>
          <a:p>
            <a:pPr marL="0" indent="0">
              <a:buNone/>
            </a:pPr>
            <a:endParaRPr lang="en-US" sz="2900" dirty="0"/>
          </a:p>
          <a:p>
            <a:pPr marL="0" indent="0">
              <a:buNone/>
            </a:pPr>
            <a:r>
              <a:rPr lang="en-IN" sz="2900" b="1" dirty="0"/>
              <a:t>Keywords: </a:t>
            </a:r>
            <a:r>
              <a:rPr lang="en-IN" sz="2900" dirty="0"/>
              <a:t>Crater Detection, Computer Vision, Convolutional Neural Networks (CNNs), Faster R-CNN, Planetary Exploration, Deep Learning, Automated Detection, Geological Features, High-Resolution Imagery</a:t>
            </a:r>
          </a:p>
          <a:p>
            <a:pPr marL="0" indent="0">
              <a:buNone/>
            </a:pPr>
            <a:endParaRPr lang="en-IN" dirty="0"/>
          </a:p>
        </p:txBody>
      </p:sp>
      <p:sp>
        <p:nvSpPr>
          <p:cNvPr id="4" name="Footer Placeholder 3">
            <a:extLst>
              <a:ext uri="{FF2B5EF4-FFF2-40B4-BE49-F238E27FC236}">
                <a16:creationId xmlns:a16="http://schemas.microsoft.com/office/drawing/2014/main" id="{85913BAD-D4D0-D18B-9DD2-FF6D6BBBA22A}"/>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C9CDF9F7-B1A6-BD38-073F-E8E6A71E1280}"/>
              </a:ext>
            </a:extLst>
          </p:cNvPr>
          <p:cNvSpPr>
            <a:spLocks noGrp="1"/>
          </p:cNvSpPr>
          <p:nvPr>
            <p:ph type="sldNum" sz="quarter" idx="12"/>
          </p:nvPr>
        </p:nvSpPr>
        <p:spPr/>
        <p:txBody>
          <a:bodyPr/>
          <a:lstStyle/>
          <a:p>
            <a:fld id="{90EDC104-672A-4227-99C4-0E2CC007FDBA}" type="slidenum">
              <a:rPr lang="en-IN" smtClean="0"/>
              <a:t>3</a:t>
            </a:fld>
            <a:endParaRPr lang="en-IN"/>
          </a:p>
        </p:txBody>
      </p:sp>
    </p:spTree>
    <p:extLst>
      <p:ext uri="{BB962C8B-B14F-4D97-AF65-F5344CB8AC3E}">
        <p14:creationId xmlns:p14="http://schemas.microsoft.com/office/powerpoint/2010/main" val="3903908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pPr>
              <a:tabLst>
                <a:tab pos="1528763" algn="l"/>
              </a:tabLst>
            </a:pPr>
            <a:r>
              <a:rPr lang="en-US" b="1" dirty="0">
                <a:latin typeface="Arial Narrow" panose="020B0606020202030204" pitchFamily="34" charset="0"/>
              </a:rPr>
              <a:t>Introduction</a:t>
            </a:r>
            <a:endParaRPr lang="en-IN" b="1" dirty="0">
              <a:latin typeface="Arial Narrow" panose="020B0606020202030204" pitchFamily="34" charset="0"/>
            </a:endParaRPr>
          </a:p>
        </p:txBody>
      </p:sp>
      <p:sp>
        <p:nvSpPr>
          <p:cNvPr id="3" name="Content Placeholder 2"/>
          <p:cNvSpPr>
            <a:spLocks noGrp="1"/>
          </p:cNvSpPr>
          <p:nvPr>
            <p:ph idx="1"/>
          </p:nvPr>
        </p:nvSpPr>
        <p:spPr>
          <a:xfrm>
            <a:off x="477520" y="1320800"/>
            <a:ext cx="11257280" cy="5035550"/>
          </a:xfrm>
        </p:spPr>
        <p:txBody>
          <a:bodyPr>
            <a:normAutofit/>
          </a:bodyPr>
          <a:lstStyle/>
          <a:p>
            <a:pPr marL="0" indent="0">
              <a:buNone/>
            </a:pPr>
            <a:r>
              <a:rPr lang="en-US" sz="2000" dirty="0"/>
              <a:t>The exploration of planetary surfaces has long been a cornerstone of understanding the geological and environmental history of celestial bodies within our solar system. Craters, formed by the impacts of meteoroids, asteroids, and comets, are among the most significant geological features that provide insight into the history and composition of these surfaces. Traditional methods of identifying and cataloging craters involve labor-intensive manual analysis of high-resolution imagery, which is time-consuming and subject to human error.</a:t>
            </a:r>
          </a:p>
          <a:p>
            <a:pPr marL="0" indent="0">
              <a:buNone/>
            </a:pPr>
            <a:r>
              <a:rPr lang="en-US" sz="2000" dirty="0"/>
              <a:t>This project aims to address these challenges by developing an automated crater detection system. Leveraging state-of-the-art deep learning models, specifically Convolutional Neural Networks (CNNs) and Faster R-CNN, this project seeks to enhance the accuracy and efficiency of crater detection. By comparing the performance of different models, including a simple Artificial Neural Network (ANN), a custom CNN, and a pretrained Faster R-CNN, this study aims to identify the most effective approach for automated crater detection.</a:t>
            </a:r>
          </a:p>
          <a:p>
            <a:pPr marL="0" indent="0">
              <a:buNone/>
            </a:pPr>
            <a:r>
              <a:rPr lang="en-US" sz="2000" dirty="0"/>
              <a:t>The outcomes of this research are expected to significantly reduce the time and effort required for manual crater identification, providing a robust tool for planetary scientists and researchers. The high accuracy and stability demonstrated by the models, particularly the Faster R-CNN, highlight the potential for broader applications in planetary exploration and remote sensing.</a:t>
            </a:r>
          </a:p>
          <a:p>
            <a:pPr marL="0" indent="0">
              <a:buNone/>
            </a:pPr>
            <a:endParaRPr lang="en-IN" sz="2000"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2898404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1F068-64D4-ADDA-1D4D-AE6A31CC2093}"/>
              </a:ext>
            </a:extLst>
          </p:cNvPr>
          <p:cNvSpPr>
            <a:spLocks noGrp="1"/>
          </p:cNvSpPr>
          <p:nvPr>
            <p:ph type="title"/>
          </p:nvPr>
        </p:nvSpPr>
        <p:spPr/>
        <p:txBody>
          <a:bodyPr/>
          <a:lstStyle/>
          <a:p>
            <a:r>
              <a:rPr lang="en-US" b="1" dirty="0">
                <a:latin typeface="Arial Narrow" panose="020B0606020202030204" pitchFamily="34" charset="0"/>
              </a:rPr>
              <a:t>Objectives</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93FEC44C-652F-069B-830B-BF88B505245F}"/>
              </a:ext>
            </a:extLst>
          </p:cNvPr>
          <p:cNvSpPr>
            <a:spLocks noGrp="1"/>
          </p:cNvSpPr>
          <p:nvPr>
            <p:ph idx="1"/>
          </p:nvPr>
        </p:nvSpPr>
        <p:spPr/>
        <p:txBody>
          <a:bodyPr/>
          <a:lstStyle/>
          <a:p>
            <a:r>
              <a:rPr lang="en-US" dirty="0"/>
              <a:t>Develop an automated system for crater detection using computer vision techniques.</a:t>
            </a:r>
          </a:p>
          <a:p>
            <a:r>
              <a:rPr lang="en-US" dirty="0"/>
              <a:t>Utilize deep learning models to enhance the accuracy of crater identification.</a:t>
            </a:r>
          </a:p>
          <a:p>
            <a:r>
              <a:rPr lang="en-US" dirty="0"/>
              <a:t>Compare the performance of different models (Simple ANN, CNN, and Faster R-CNN) on crater detection tasks.</a:t>
            </a:r>
          </a:p>
          <a:p>
            <a:r>
              <a:rPr lang="en-US" dirty="0"/>
              <a:t>Analyze the effectiveness of the models in terms of training loss, validation accuracy, and test accuracy.</a:t>
            </a:r>
            <a:endParaRPr lang="en-IN" dirty="0"/>
          </a:p>
        </p:txBody>
      </p:sp>
      <p:sp>
        <p:nvSpPr>
          <p:cNvPr id="4" name="Footer Placeholder 3">
            <a:extLst>
              <a:ext uri="{FF2B5EF4-FFF2-40B4-BE49-F238E27FC236}">
                <a16:creationId xmlns:a16="http://schemas.microsoft.com/office/drawing/2014/main" id="{B9C99416-9DAB-61DA-92C6-5A87655DE72F}"/>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E7F3C3EC-B4F6-1F60-1339-12E1504DB41D}"/>
              </a:ext>
            </a:extLst>
          </p:cNvPr>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1411006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004817"/>
            <a:ext cx="10515600" cy="4351338"/>
          </a:xfrm>
        </p:spPr>
        <p:txBody>
          <a:bodyPr/>
          <a:lstStyle/>
          <a:p>
            <a:r>
              <a:rPr lang="en-US" dirty="0">
                <a:latin typeface="Arial Narrow" panose="020B0606020202030204" pitchFamily="34" charset="0"/>
              </a:rPr>
              <a:t>Source of the Dataset: Kaggle </a:t>
            </a:r>
            <a:r>
              <a:rPr lang="en-US" dirty="0">
                <a:latin typeface="Arial Narrow" panose="020B0606020202030204" pitchFamily="34" charset="0"/>
                <a:hlinkClick r:id="rId2"/>
              </a:rPr>
              <a:t>Link to Dataset</a:t>
            </a:r>
            <a:endParaRPr lang="en-US" dirty="0">
              <a:latin typeface="Arial Narrow" panose="020B0606020202030204" pitchFamily="34" charset="0"/>
            </a:endParaRPr>
          </a:p>
          <a:p>
            <a:r>
              <a:rPr lang="en-US" dirty="0">
                <a:latin typeface="Arial Narrow" panose="020B0606020202030204" pitchFamily="34" charset="0"/>
              </a:rPr>
              <a:t>No. of Observations:</a:t>
            </a:r>
          </a:p>
          <a:p>
            <a:pPr marL="0" indent="0">
              <a:buNone/>
            </a:pPr>
            <a:endParaRPr lang="en-US" dirty="0">
              <a:latin typeface="Arial Narrow" panose="020B0606020202030204" pitchFamily="34" charset="0"/>
            </a:endParaRPr>
          </a:p>
          <a:p>
            <a:r>
              <a:rPr lang="en-US" dirty="0">
                <a:latin typeface="Arial Narrow" panose="020B0606020202030204" pitchFamily="34" charset="0"/>
              </a:rPr>
              <a:t>Images: Planetary surface images containing craters</a:t>
            </a:r>
          </a:p>
          <a:p>
            <a:r>
              <a:rPr lang="en-US" dirty="0">
                <a:latin typeface="Arial Narrow" panose="020B0606020202030204" pitchFamily="34" charset="0"/>
              </a:rPr>
              <a:t>Labels: Annotations of crater locations in the images (bounding boxes)</a:t>
            </a:r>
          </a:p>
          <a:p>
            <a:r>
              <a:rPr lang="en-US" dirty="0">
                <a:latin typeface="Arial Narrow" panose="020B0606020202030204" pitchFamily="34" charset="0"/>
              </a:rPr>
              <a:t>Screenshot of the dataset:</a:t>
            </a:r>
          </a:p>
          <a:p>
            <a:endParaRPr lang="en-IN"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6</a:t>
            </a:fld>
            <a:endParaRPr lang="en-IN"/>
          </a:p>
        </p:txBody>
      </p:sp>
      <p:pic>
        <p:nvPicPr>
          <p:cNvPr id="8" name="Picture 7">
            <a:extLst>
              <a:ext uri="{FF2B5EF4-FFF2-40B4-BE49-F238E27FC236}">
                <a16:creationId xmlns:a16="http://schemas.microsoft.com/office/drawing/2014/main" id="{27AE664C-686B-C699-D6E3-F36024024F98}"/>
              </a:ext>
            </a:extLst>
          </p:cNvPr>
          <p:cNvPicPr>
            <a:picLocks noChangeAspect="1"/>
          </p:cNvPicPr>
          <p:nvPr/>
        </p:nvPicPr>
        <p:blipFill>
          <a:blip r:embed="rId3"/>
          <a:stretch>
            <a:fillRect/>
          </a:stretch>
        </p:blipFill>
        <p:spPr>
          <a:xfrm>
            <a:off x="3902150" y="1632936"/>
            <a:ext cx="2193850" cy="1027279"/>
          </a:xfrm>
          <a:prstGeom prst="rect">
            <a:avLst/>
          </a:prstGeom>
        </p:spPr>
      </p:pic>
      <p:pic>
        <p:nvPicPr>
          <p:cNvPr id="3076" name="Picture 4">
            <a:extLst>
              <a:ext uri="{FF2B5EF4-FFF2-40B4-BE49-F238E27FC236}">
                <a16:creationId xmlns:a16="http://schemas.microsoft.com/office/drawing/2014/main" id="{1C589F37-02F5-2113-7B50-087A8FF2FC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045" y="4113601"/>
            <a:ext cx="2321560" cy="232156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6F2D7C36-005B-7581-1D9E-115187F81A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8243" y="4113601"/>
            <a:ext cx="2321560" cy="232156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338D428F-46A0-2E10-DBBF-42C0A8505F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7441" y="4113601"/>
            <a:ext cx="2321560" cy="232156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9A04E54B-58A5-A5CC-73A9-4BAD27B77D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1719" y="4113601"/>
            <a:ext cx="2321560" cy="2321560"/>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65E8E1C2-0218-F028-2544-321E71E7C71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55837" y="4113601"/>
            <a:ext cx="2321560" cy="2321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3472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880"/>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7</a:t>
            </a:fld>
            <a:endParaRPr lang="en-IN"/>
          </a:p>
        </p:txBody>
      </p:sp>
      <p:pic>
        <p:nvPicPr>
          <p:cNvPr id="3" name="Picture 2">
            <a:extLst>
              <a:ext uri="{FF2B5EF4-FFF2-40B4-BE49-F238E27FC236}">
                <a16:creationId xmlns:a16="http://schemas.microsoft.com/office/drawing/2014/main" id="{A9A12635-2DDE-9F03-0DD5-0BD9D44D0E4E}"/>
              </a:ext>
            </a:extLst>
          </p:cNvPr>
          <p:cNvPicPr>
            <a:picLocks noChangeAspect="1"/>
          </p:cNvPicPr>
          <p:nvPr/>
        </p:nvPicPr>
        <p:blipFill>
          <a:blip r:embed="rId2"/>
          <a:stretch>
            <a:fillRect/>
          </a:stretch>
        </p:blipFill>
        <p:spPr>
          <a:xfrm>
            <a:off x="1381760" y="846496"/>
            <a:ext cx="9428480" cy="5806041"/>
          </a:xfrm>
          <a:prstGeom prst="rect">
            <a:avLst/>
          </a:prstGeom>
        </p:spPr>
      </p:pic>
    </p:spTree>
    <p:extLst>
      <p:ext uri="{BB962C8B-B14F-4D97-AF65-F5344CB8AC3E}">
        <p14:creationId xmlns:p14="http://schemas.microsoft.com/office/powerpoint/2010/main" val="3276187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4B61-BED5-3A54-965B-C666DA69DB03}"/>
              </a:ext>
            </a:extLst>
          </p:cNvPr>
          <p:cNvSpPr>
            <a:spLocks noGrp="1"/>
          </p:cNvSpPr>
          <p:nvPr>
            <p:ph type="title"/>
          </p:nvPr>
        </p:nvSpPr>
        <p:spPr/>
        <p:txBody>
          <a:bodyPr/>
          <a:lstStyle/>
          <a:p>
            <a:r>
              <a:rPr lang="en-US" b="1" dirty="0">
                <a:latin typeface="Arial Narrow" panose="020B0606020202030204" pitchFamily="34" charset="0"/>
              </a:rPr>
              <a:t>Exploratory Data Analysis</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2F69BDFC-4C7D-50E7-5C08-1DCD23A20D98}"/>
              </a:ext>
            </a:extLst>
          </p:cNvPr>
          <p:cNvSpPr>
            <a:spLocks noGrp="1"/>
          </p:cNvSpPr>
          <p:nvPr>
            <p:ph idx="1"/>
          </p:nvPr>
        </p:nvSpPr>
        <p:spPr/>
        <p:txBody>
          <a:bodyPr/>
          <a:lstStyle/>
          <a:p>
            <a:pPr marL="0" indent="0">
              <a:buNone/>
            </a:pPr>
            <a:r>
              <a:rPr lang="en-US" dirty="0"/>
              <a:t>Visualizing sample images with bounding boxes</a:t>
            </a:r>
            <a:endParaRPr lang="en-IN" dirty="0"/>
          </a:p>
        </p:txBody>
      </p:sp>
      <p:sp>
        <p:nvSpPr>
          <p:cNvPr id="4" name="Footer Placeholder 3">
            <a:extLst>
              <a:ext uri="{FF2B5EF4-FFF2-40B4-BE49-F238E27FC236}">
                <a16:creationId xmlns:a16="http://schemas.microsoft.com/office/drawing/2014/main" id="{B69B42D7-7161-C688-B72F-247246242763}"/>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886F8F46-4182-16B4-3CE1-C8C398E2CB53}"/>
              </a:ext>
            </a:extLst>
          </p:cNvPr>
          <p:cNvSpPr>
            <a:spLocks noGrp="1"/>
          </p:cNvSpPr>
          <p:nvPr>
            <p:ph type="sldNum" sz="quarter" idx="12"/>
          </p:nvPr>
        </p:nvSpPr>
        <p:spPr/>
        <p:txBody>
          <a:bodyPr/>
          <a:lstStyle/>
          <a:p>
            <a:fld id="{90EDC104-672A-4227-99C4-0E2CC007FDBA}" type="slidenum">
              <a:rPr lang="en-IN" smtClean="0"/>
              <a:t>8</a:t>
            </a:fld>
            <a:endParaRPr lang="en-IN"/>
          </a:p>
        </p:txBody>
      </p:sp>
      <p:pic>
        <p:nvPicPr>
          <p:cNvPr id="6" name="Picture 4">
            <a:extLst>
              <a:ext uri="{FF2B5EF4-FFF2-40B4-BE49-F238E27FC236}">
                <a16:creationId xmlns:a16="http://schemas.microsoft.com/office/drawing/2014/main" id="{92A3C35F-4785-30CA-A467-C5E0AC1F18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824" y="2691201"/>
            <a:ext cx="2321560" cy="23215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E1BE90F-EBC2-4EB6-7C0F-A285FC53B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6022" y="2691201"/>
            <a:ext cx="2321560" cy="23215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35E3D8CB-4D81-D169-0E32-ABF19E3CFA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5220" y="2691201"/>
            <a:ext cx="2321560" cy="232156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a:extLst>
              <a:ext uri="{FF2B5EF4-FFF2-40B4-BE49-F238E27FC236}">
                <a16:creationId xmlns:a16="http://schemas.microsoft.com/office/drawing/2014/main" id="{0E83A24F-A33B-FE48-2A3E-15B0F18863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59498" y="2691201"/>
            <a:ext cx="2321560" cy="232156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2">
            <a:extLst>
              <a:ext uri="{FF2B5EF4-FFF2-40B4-BE49-F238E27FC236}">
                <a16:creationId xmlns:a16="http://schemas.microsoft.com/office/drawing/2014/main" id="{7204FE0A-6DFD-9356-E067-2475E5326B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73616" y="2691201"/>
            <a:ext cx="2321560" cy="2321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452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4B61-BED5-3A54-965B-C666DA69DB03}"/>
              </a:ext>
            </a:extLst>
          </p:cNvPr>
          <p:cNvSpPr>
            <a:spLocks noGrp="1"/>
          </p:cNvSpPr>
          <p:nvPr>
            <p:ph type="title"/>
          </p:nvPr>
        </p:nvSpPr>
        <p:spPr/>
        <p:txBody>
          <a:bodyPr/>
          <a:lstStyle/>
          <a:p>
            <a:r>
              <a:rPr lang="en-US" b="1" dirty="0">
                <a:latin typeface="Arial Narrow" panose="020B0606020202030204" pitchFamily="34" charset="0"/>
              </a:rPr>
              <a:t>Exploratory Data Analysis</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2F69BDFC-4C7D-50E7-5C08-1DCD23A20D98}"/>
              </a:ext>
            </a:extLst>
          </p:cNvPr>
          <p:cNvSpPr>
            <a:spLocks noGrp="1"/>
          </p:cNvSpPr>
          <p:nvPr>
            <p:ph idx="1"/>
          </p:nvPr>
        </p:nvSpPr>
        <p:spPr>
          <a:xfrm>
            <a:off x="838199" y="1498600"/>
            <a:ext cx="10515600" cy="4351338"/>
          </a:xfrm>
        </p:spPr>
        <p:txBody>
          <a:bodyPr/>
          <a:lstStyle/>
          <a:p>
            <a:pPr marL="0" indent="0">
              <a:buNone/>
            </a:pPr>
            <a:r>
              <a:rPr lang="en-US" dirty="0"/>
              <a:t>Distribution of Bounding Box</a:t>
            </a:r>
            <a:endParaRPr lang="en-IN" dirty="0"/>
          </a:p>
        </p:txBody>
      </p:sp>
      <p:sp>
        <p:nvSpPr>
          <p:cNvPr id="4" name="Footer Placeholder 3">
            <a:extLst>
              <a:ext uri="{FF2B5EF4-FFF2-40B4-BE49-F238E27FC236}">
                <a16:creationId xmlns:a16="http://schemas.microsoft.com/office/drawing/2014/main" id="{B69B42D7-7161-C688-B72F-247246242763}"/>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886F8F46-4182-16B4-3CE1-C8C398E2CB53}"/>
              </a:ext>
            </a:extLst>
          </p:cNvPr>
          <p:cNvSpPr>
            <a:spLocks noGrp="1"/>
          </p:cNvSpPr>
          <p:nvPr>
            <p:ph type="sldNum" sz="quarter" idx="12"/>
          </p:nvPr>
        </p:nvSpPr>
        <p:spPr/>
        <p:txBody>
          <a:bodyPr/>
          <a:lstStyle/>
          <a:p>
            <a:fld id="{90EDC104-672A-4227-99C4-0E2CC007FDBA}" type="slidenum">
              <a:rPr lang="en-IN" smtClean="0"/>
              <a:t>9</a:t>
            </a:fld>
            <a:endParaRPr lang="en-IN"/>
          </a:p>
        </p:txBody>
      </p:sp>
      <p:pic>
        <p:nvPicPr>
          <p:cNvPr id="4098" name="Picture 2">
            <a:extLst>
              <a:ext uri="{FF2B5EF4-FFF2-40B4-BE49-F238E27FC236}">
                <a16:creationId xmlns:a16="http://schemas.microsoft.com/office/drawing/2014/main" id="{7C9B4772-5D4A-935C-3EC2-4D56235FE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7" y="2197100"/>
            <a:ext cx="11858625" cy="4295775"/>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9008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58D7F-9A1A-062E-EF05-75C1244F02DF}"/>
              </a:ext>
            </a:extLst>
          </p:cNvPr>
          <p:cNvSpPr>
            <a:spLocks noGrp="1"/>
          </p:cNvSpPr>
          <p:nvPr>
            <p:ph type="title"/>
          </p:nvPr>
        </p:nvSpPr>
        <p:spPr>
          <a:xfrm>
            <a:off x="838200" y="0"/>
            <a:ext cx="10515600" cy="1325563"/>
          </a:xfrm>
        </p:spPr>
        <p:txBody>
          <a:bodyPr/>
          <a:lstStyle/>
          <a:p>
            <a:r>
              <a:rPr lang="en-US" b="1" dirty="0">
                <a:latin typeface="Arial Narrow" panose="020B0606020202030204" pitchFamily="34" charset="0"/>
              </a:rPr>
              <a:t>Exploratory Data Analysis</a:t>
            </a:r>
            <a:endParaRPr lang="en-IN" dirty="0"/>
          </a:p>
        </p:txBody>
      </p:sp>
      <p:sp>
        <p:nvSpPr>
          <p:cNvPr id="3" name="Content Placeholder 2">
            <a:extLst>
              <a:ext uri="{FF2B5EF4-FFF2-40B4-BE49-F238E27FC236}">
                <a16:creationId xmlns:a16="http://schemas.microsoft.com/office/drawing/2014/main" id="{35AFA037-AD52-462A-118E-D99E36B9D182}"/>
              </a:ext>
            </a:extLst>
          </p:cNvPr>
          <p:cNvSpPr>
            <a:spLocks noGrp="1"/>
          </p:cNvSpPr>
          <p:nvPr>
            <p:ph idx="1"/>
          </p:nvPr>
        </p:nvSpPr>
        <p:spPr>
          <a:xfrm>
            <a:off x="665480" y="1253331"/>
            <a:ext cx="10515600" cy="4351338"/>
          </a:xfrm>
        </p:spPr>
        <p:txBody>
          <a:bodyPr/>
          <a:lstStyle/>
          <a:p>
            <a:pPr marL="0" indent="0">
              <a:buNone/>
            </a:pPr>
            <a:r>
              <a:rPr lang="en-US" dirty="0"/>
              <a:t>Heatmap of Bounding Box Centers</a:t>
            </a:r>
            <a:endParaRPr lang="en-IN" dirty="0"/>
          </a:p>
        </p:txBody>
      </p:sp>
      <p:sp>
        <p:nvSpPr>
          <p:cNvPr id="4" name="Footer Placeholder 3">
            <a:extLst>
              <a:ext uri="{FF2B5EF4-FFF2-40B4-BE49-F238E27FC236}">
                <a16:creationId xmlns:a16="http://schemas.microsoft.com/office/drawing/2014/main" id="{F772B723-518D-FB36-69F7-ECE6A13AC253}"/>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EDDC5B04-4401-2F1A-FB36-7CF2170CE107}"/>
              </a:ext>
            </a:extLst>
          </p:cNvPr>
          <p:cNvSpPr>
            <a:spLocks noGrp="1"/>
          </p:cNvSpPr>
          <p:nvPr>
            <p:ph type="sldNum" sz="quarter" idx="12"/>
          </p:nvPr>
        </p:nvSpPr>
        <p:spPr/>
        <p:txBody>
          <a:bodyPr/>
          <a:lstStyle/>
          <a:p>
            <a:fld id="{90EDC104-672A-4227-99C4-0E2CC007FDBA}" type="slidenum">
              <a:rPr lang="en-IN" smtClean="0"/>
              <a:t>10</a:t>
            </a:fld>
            <a:endParaRPr lang="en-IN"/>
          </a:p>
        </p:txBody>
      </p:sp>
      <p:pic>
        <p:nvPicPr>
          <p:cNvPr id="6148" name="Picture 4">
            <a:extLst>
              <a:ext uri="{FF2B5EF4-FFF2-40B4-BE49-F238E27FC236}">
                <a16:creationId xmlns:a16="http://schemas.microsoft.com/office/drawing/2014/main" id="{D167832C-883C-304D-02E9-FE815D7D0C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8890" y="1785200"/>
            <a:ext cx="4554220" cy="4571150"/>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7725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58D7F-9A1A-062E-EF05-75C1244F02DF}"/>
              </a:ext>
            </a:extLst>
          </p:cNvPr>
          <p:cNvSpPr>
            <a:spLocks noGrp="1"/>
          </p:cNvSpPr>
          <p:nvPr>
            <p:ph type="title"/>
          </p:nvPr>
        </p:nvSpPr>
        <p:spPr>
          <a:xfrm>
            <a:off x="838200" y="0"/>
            <a:ext cx="10515600" cy="1325563"/>
          </a:xfrm>
        </p:spPr>
        <p:txBody>
          <a:bodyPr/>
          <a:lstStyle/>
          <a:p>
            <a:r>
              <a:rPr lang="en-US" b="1" dirty="0">
                <a:latin typeface="Arial Narrow" panose="020B0606020202030204" pitchFamily="34" charset="0"/>
              </a:rPr>
              <a:t>Results and Discussion</a:t>
            </a:r>
            <a:endParaRPr lang="en-IN" dirty="0"/>
          </a:p>
        </p:txBody>
      </p:sp>
      <p:sp>
        <p:nvSpPr>
          <p:cNvPr id="3" name="Content Placeholder 2">
            <a:extLst>
              <a:ext uri="{FF2B5EF4-FFF2-40B4-BE49-F238E27FC236}">
                <a16:creationId xmlns:a16="http://schemas.microsoft.com/office/drawing/2014/main" id="{35AFA037-AD52-462A-118E-D99E36B9D182}"/>
              </a:ext>
            </a:extLst>
          </p:cNvPr>
          <p:cNvSpPr>
            <a:spLocks noGrp="1"/>
          </p:cNvSpPr>
          <p:nvPr>
            <p:ph idx="1"/>
          </p:nvPr>
        </p:nvSpPr>
        <p:spPr>
          <a:xfrm>
            <a:off x="665480" y="1253331"/>
            <a:ext cx="10515600" cy="4351338"/>
          </a:xfrm>
        </p:spPr>
        <p:txBody>
          <a:bodyPr/>
          <a:lstStyle/>
          <a:p>
            <a:pPr marL="0" indent="0">
              <a:buNone/>
            </a:pPr>
            <a:endParaRPr lang="en-US" dirty="0"/>
          </a:p>
          <a:p>
            <a:pPr marL="0" indent="0">
              <a:buNone/>
            </a:pPr>
            <a:endParaRPr lang="en-IN" dirty="0"/>
          </a:p>
        </p:txBody>
      </p:sp>
      <p:sp>
        <p:nvSpPr>
          <p:cNvPr id="4" name="Footer Placeholder 3">
            <a:extLst>
              <a:ext uri="{FF2B5EF4-FFF2-40B4-BE49-F238E27FC236}">
                <a16:creationId xmlns:a16="http://schemas.microsoft.com/office/drawing/2014/main" id="{F772B723-518D-FB36-69F7-ECE6A13AC253}"/>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EDDC5B04-4401-2F1A-FB36-7CF2170CE107}"/>
              </a:ext>
            </a:extLst>
          </p:cNvPr>
          <p:cNvSpPr>
            <a:spLocks noGrp="1"/>
          </p:cNvSpPr>
          <p:nvPr>
            <p:ph type="sldNum" sz="quarter" idx="12"/>
          </p:nvPr>
        </p:nvSpPr>
        <p:spPr/>
        <p:txBody>
          <a:bodyPr/>
          <a:lstStyle/>
          <a:p>
            <a:fld id="{90EDC104-672A-4227-99C4-0E2CC007FDBA}" type="slidenum">
              <a:rPr lang="en-IN" smtClean="0"/>
              <a:t>11</a:t>
            </a:fld>
            <a:endParaRPr lang="en-IN"/>
          </a:p>
        </p:txBody>
      </p:sp>
      <p:graphicFrame>
        <p:nvGraphicFramePr>
          <p:cNvPr id="13" name="Table 12">
            <a:extLst>
              <a:ext uri="{FF2B5EF4-FFF2-40B4-BE49-F238E27FC236}">
                <a16:creationId xmlns:a16="http://schemas.microsoft.com/office/drawing/2014/main" id="{7794E56F-1E43-CD46-4594-B33DB3EDBADA}"/>
              </a:ext>
            </a:extLst>
          </p:cNvPr>
          <p:cNvGraphicFramePr>
            <a:graphicFrameLocks noGrp="1"/>
          </p:cNvGraphicFramePr>
          <p:nvPr>
            <p:extLst>
              <p:ext uri="{D42A27DB-BD31-4B8C-83A1-F6EECF244321}">
                <p14:modId xmlns:p14="http://schemas.microsoft.com/office/powerpoint/2010/main" val="2267869784"/>
              </p:ext>
            </p:extLst>
          </p:nvPr>
        </p:nvGraphicFramePr>
        <p:xfrm>
          <a:off x="924560" y="1325562"/>
          <a:ext cx="10429240" cy="4210246"/>
        </p:xfrm>
        <a:graphic>
          <a:graphicData uri="http://schemas.openxmlformats.org/drawingml/2006/table">
            <a:tbl>
              <a:tblPr firstRow="1" firstCol="1" bandRow="1"/>
              <a:tblGrid>
                <a:gridCol w="2607310">
                  <a:extLst>
                    <a:ext uri="{9D8B030D-6E8A-4147-A177-3AD203B41FA5}">
                      <a16:colId xmlns:a16="http://schemas.microsoft.com/office/drawing/2014/main" val="474175697"/>
                    </a:ext>
                  </a:extLst>
                </a:gridCol>
                <a:gridCol w="2607310">
                  <a:extLst>
                    <a:ext uri="{9D8B030D-6E8A-4147-A177-3AD203B41FA5}">
                      <a16:colId xmlns:a16="http://schemas.microsoft.com/office/drawing/2014/main" val="1777625528"/>
                    </a:ext>
                  </a:extLst>
                </a:gridCol>
                <a:gridCol w="2607310">
                  <a:extLst>
                    <a:ext uri="{9D8B030D-6E8A-4147-A177-3AD203B41FA5}">
                      <a16:colId xmlns:a16="http://schemas.microsoft.com/office/drawing/2014/main" val="1470861456"/>
                    </a:ext>
                  </a:extLst>
                </a:gridCol>
                <a:gridCol w="2607310">
                  <a:extLst>
                    <a:ext uri="{9D8B030D-6E8A-4147-A177-3AD203B41FA5}">
                      <a16:colId xmlns:a16="http://schemas.microsoft.com/office/drawing/2014/main" val="902237806"/>
                    </a:ext>
                  </a:extLst>
                </a:gridCol>
              </a:tblGrid>
              <a:tr h="936809">
                <a:tc>
                  <a:txBody>
                    <a:bodyPr/>
                    <a:lstStyle/>
                    <a:p>
                      <a:pPr algn="ctr">
                        <a:lnSpc>
                          <a:spcPct val="107000"/>
                        </a:lnSpc>
                        <a:spcAft>
                          <a:spcPts val="800"/>
                        </a:spcAf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Model</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Training Loss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Validation Accuracy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3200" b="1" kern="0" dirty="0">
                          <a:effectLst/>
                          <a:latin typeface="Times New Roman" panose="02020603050405020304" pitchFamily="18" charset="0"/>
                          <a:ea typeface="Times New Roman" panose="02020603050405020304" pitchFamily="18" charset="0"/>
                          <a:cs typeface="Times New Roman" panose="02020603050405020304" pitchFamily="18" charset="0"/>
                        </a:rPr>
                        <a:t>Test Accuracy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8251028"/>
                  </a:ext>
                </a:extLst>
              </a:tr>
              <a:tr h="1118209">
                <a:tc>
                  <a:txBody>
                    <a:bodyPr/>
                    <a:lstStyle/>
                    <a:p>
                      <a:pPr>
                        <a:lnSpc>
                          <a:spcPct val="107000"/>
                        </a:lnSpc>
                        <a:spcAft>
                          <a:spcPts val="800"/>
                        </a:spcAf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Simple ANN (</a:t>
                      </a:r>
                      <a:r>
                        <a:rPr lang="en-IN"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CraterClassifier</a:t>
                      </a: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High and variable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2400" kern="0">
                          <a:effectLst/>
                          <a:latin typeface="Times New Roman" panose="02020603050405020304" pitchFamily="18" charset="0"/>
                          <a:ea typeface="Times New Roman" panose="02020603050405020304" pitchFamily="18" charset="0"/>
                          <a:cs typeface="Times New Roman" panose="02020603050405020304" pitchFamily="18" charset="0"/>
                        </a:rPr>
                        <a:t>92.31%</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2400" kern="0">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321879"/>
                  </a:ext>
                </a:extLst>
              </a:tr>
              <a:tr h="936809">
                <a:tc>
                  <a:txBody>
                    <a:bodyPr/>
                    <a:lstStyle/>
                    <a:p>
                      <a:pPr>
                        <a:lnSpc>
                          <a:spcPct val="107000"/>
                        </a:lnSpc>
                        <a:spcAft>
                          <a:spcPts val="800"/>
                        </a:spcAft>
                      </a:pPr>
                      <a:r>
                        <a:rPr lang="en-IN" sz="2000" b="1" kern="0">
                          <a:effectLst/>
                          <a:latin typeface="Times New Roman" panose="02020603050405020304" pitchFamily="18" charset="0"/>
                          <a:ea typeface="Times New Roman" panose="02020603050405020304" pitchFamily="18" charset="0"/>
                          <a:cs typeface="Times New Roman" panose="02020603050405020304" pitchFamily="18" charset="0"/>
                        </a:rPr>
                        <a:t>Simple CNN (CraterCNN)</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Moderate and stable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2400" kern="0">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689992"/>
                  </a:ext>
                </a:extLst>
              </a:tr>
              <a:tr h="1118209">
                <a:tc>
                  <a:txBody>
                    <a:bodyPr/>
                    <a:lstStyle/>
                    <a:p>
                      <a:pPr>
                        <a:lnSpc>
                          <a:spcPct val="107000"/>
                        </a:lnSpc>
                        <a:spcAft>
                          <a:spcPts val="800"/>
                        </a:spcAft>
                      </a:pPr>
                      <a:r>
                        <a:rPr lang="en-IN" sz="2000" b="1" kern="0" dirty="0">
                          <a:effectLst/>
                          <a:latin typeface="Times New Roman" panose="02020603050405020304" pitchFamily="18" charset="0"/>
                          <a:ea typeface="Times New Roman" panose="02020603050405020304" pitchFamily="18" charset="0"/>
                          <a:cs typeface="Times New Roman" panose="02020603050405020304" pitchFamily="18" charset="0"/>
                        </a:rPr>
                        <a:t>Faster R-CNN (Pretrained)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2400" kern="0">
                          <a:effectLst/>
                          <a:latin typeface="Times New Roman" panose="02020603050405020304" pitchFamily="18" charset="0"/>
                          <a:ea typeface="Times New Roman" panose="02020603050405020304" pitchFamily="18" charset="0"/>
                          <a:cs typeface="Times New Roman" panose="02020603050405020304" pitchFamily="18" charset="0"/>
                        </a:rPr>
                        <a:t>Moderate and stable</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2400" kern="0">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pP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4249256"/>
                  </a:ext>
                </a:extLst>
              </a:tr>
            </a:tbl>
          </a:graphicData>
        </a:graphic>
      </p:graphicFrame>
    </p:spTree>
    <p:extLst>
      <p:ext uri="{BB962C8B-B14F-4D97-AF65-F5344CB8AC3E}">
        <p14:creationId xmlns:p14="http://schemas.microsoft.com/office/powerpoint/2010/main" val="1823886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58D7F-9A1A-062E-EF05-75C1244F02DF}"/>
              </a:ext>
            </a:extLst>
          </p:cNvPr>
          <p:cNvSpPr>
            <a:spLocks noGrp="1"/>
          </p:cNvSpPr>
          <p:nvPr>
            <p:ph type="title"/>
          </p:nvPr>
        </p:nvSpPr>
        <p:spPr>
          <a:xfrm>
            <a:off x="838200" y="0"/>
            <a:ext cx="10515600" cy="1325563"/>
          </a:xfrm>
        </p:spPr>
        <p:txBody>
          <a:bodyPr/>
          <a:lstStyle/>
          <a:p>
            <a:r>
              <a:rPr lang="en-US" b="1" dirty="0">
                <a:latin typeface="Arial Narrow" panose="020B0606020202030204" pitchFamily="34" charset="0"/>
              </a:rPr>
              <a:t>Results and Discussion</a:t>
            </a:r>
            <a:endParaRPr lang="en-IN" dirty="0"/>
          </a:p>
        </p:txBody>
      </p:sp>
      <p:sp>
        <p:nvSpPr>
          <p:cNvPr id="4" name="Footer Placeholder 3">
            <a:extLst>
              <a:ext uri="{FF2B5EF4-FFF2-40B4-BE49-F238E27FC236}">
                <a16:creationId xmlns:a16="http://schemas.microsoft.com/office/drawing/2014/main" id="{F772B723-518D-FB36-69F7-ECE6A13AC253}"/>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EDDC5B04-4401-2F1A-FB36-7CF2170CE107}"/>
              </a:ext>
            </a:extLst>
          </p:cNvPr>
          <p:cNvSpPr>
            <a:spLocks noGrp="1"/>
          </p:cNvSpPr>
          <p:nvPr>
            <p:ph type="sldNum" sz="quarter" idx="12"/>
          </p:nvPr>
        </p:nvSpPr>
        <p:spPr/>
        <p:txBody>
          <a:bodyPr/>
          <a:lstStyle/>
          <a:p>
            <a:fld id="{90EDC104-672A-4227-99C4-0E2CC007FDBA}" type="slidenum">
              <a:rPr lang="en-IN" smtClean="0"/>
              <a:t>12</a:t>
            </a:fld>
            <a:endParaRPr lang="en-IN"/>
          </a:p>
        </p:txBody>
      </p:sp>
      <p:sp>
        <p:nvSpPr>
          <p:cNvPr id="7" name="Content Placeholder 6">
            <a:extLst>
              <a:ext uri="{FF2B5EF4-FFF2-40B4-BE49-F238E27FC236}">
                <a16:creationId xmlns:a16="http://schemas.microsoft.com/office/drawing/2014/main" id="{8A7A22E1-A4A2-808E-4DDA-FE02DA586E9B}"/>
              </a:ext>
            </a:extLst>
          </p:cNvPr>
          <p:cNvSpPr>
            <a:spLocks noGrp="1"/>
          </p:cNvSpPr>
          <p:nvPr>
            <p:ph idx="1"/>
          </p:nvPr>
        </p:nvSpPr>
        <p:spPr>
          <a:xfrm>
            <a:off x="838200" y="1554480"/>
            <a:ext cx="10515600" cy="4622483"/>
          </a:xfrm>
        </p:spPr>
        <p:txBody>
          <a:bodyPr>
            <a:normAutofit lnSpcReduction="10000"/>
          </a:bodyPr>
          <a:lstStyle/>
          <a:p>
            <a:pPr marL="0" indent="0">
              <a:buNone/>
            </a:pPr>
            <a:r>
              <a:rPr lang="en-US" sz="3600" b="1" dirty="0"/>
              <a:t>Simple ANN (</a:t>
            </a:r>
            <a:r>
              <a:rPr lang="en-US" sz="3600" b="1" dirty="0" err="1"/>
              <a:t>CraterClassifier</a:t>
            </a:r>
            <a:r>
              <a:rPr lang="en-US" sz="3600" b="1" dirty="0"/>
              <a:t>)</a:t>
            </a:r>
            <a:r>
              <a:rPr lang="en-US" sz="3600" dirty="0"/>
              <a:t>:</a:t>
            </a:r>
          </a:p>
          <a:p>
            <a:pPr marL="0" indent="0">
              <a:buNone/>
            </a:pPr>
            <a:endParaRPr lang="en-US" sz="3600" dirty="0"/>
          </a:p>
          <a:p>
            <a:pPr>
              <a:buFont typeface="Arial" panose="020B0604020202020204" pitchFamily="34" charset="0"/>
              <a:buChar char="•"/>
            </a:pPr>
            <a:r>
              <a:rPr lang="en-US" b="1" dirty="0"/>
              <a:t>Training Loss</a:t>
            </a:r>
            <a:r>
              <a:rPr lang="en-US" dirty="0"/>
              <a:t>: The training loss for the ANN model was high and showed significant variance, indicating possible issues with model convergence or learning instability.</a:t>
            </a:r>
          </a:p>
          <a:p>
            <a:pPr>
              <a:buFont typeface="Arial" panose="020B0604020202020204" pitchFamily="34" charset="0"/>
              <a:buChar char="•"/>
            </a:pPr>
            <a:r>
              <a:rPr lang="en-US" b="1" dirty="0"/>
              <a:t>Validation Accuracy</a:t>
            </a:r>
            <a:r>
              <a:rPr lang="en-US" dirty="0"/>
              <a:t>: The model achieved a high validation accuracy of 92.31%, suggesting that it can generalize well to unseen data but not as perfectly as the other models.</a:t>
            </a:r>
          </a:p>
          <a:p>
            <a:pPr>
              <a:buFont typeface="Arial" panose="020B0604020202020204" pitchFamily="34" charset="0"/>
              <a:buChar char="•"/>
            </a:pPr>
            <a:r>
              <a:rPr lang="en-US" b="1" dirty="0"/>
              <a:t>Test Accuracy</a:t>
            </a:r>
            <a:r>
              <a:rPr lang="en-US" dirty="0"/>
              <a:t>: Achieved a perfect test accuracy of 100%, which may indicate that despite the instability in training, the model performs exceptionally well on the test data.</a:t>
            </a:r>
          </a:p>
          <a:p>
            <a:pPr marL="0" indent="0">
              <a:buNone/>
            </a:pPr>
            <a:endParaRPr lang="en-IN" dirty="0"/>
          </a:p>
        </p:txBody>
      </p:sp>
    </p:spTree>
    <p:extLst>
      <p:ext uri="{BB962C8B-B14F-4D97-AF65-F5344CB8AC3E}">
        <p14:creationId xmlns:p14="http://schemas.microsoft.com/office/powerpoint/2010/main" val="3367063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58D7F-9A1A-062E-EF05-75C1244F02DF}"/>
              </a:ext>
            </a:extLst>
          </p:cNvPr>
          <p:cNvSpPr>
            <a:spLocks noGrp="1"/>
          </p:cNvSpPr>
          <p:nvPr>
            <p:ph type="title"/>
          </p:nvPr>
        </p:nvSpPr>
        <p:spPr>
          <a:xfrm>
            <a:off x="838200" y="0"/>
            <a:ext cx="10515600" cy="1325563"/>
          </a:xfrm>
        </p:spPr>
        <p:txBody>
          <a:bodyPr/>
          <a:lstStyle/>
          <a:p>
            <a:r>
              <a:rPr lang="en-US" b="1" dirty="0">
                <a:latin typeface="Arial Narrow" panose="020B0606020202030204" pitchFamily="34" charset="0"/>
              </a:rPr>
              <a:t>Results and Discussion</a:t>
            </a:r>
            <a:endParaRPr lang="en-IN" dirty="0"/>
          </a:p>
        </p:txBody>
      </p:sp>
      <p:sp>
        <p:nvSpPr>
          <p:cNvPr id="4" name="Footer Placeholder 3">
            <a:extLst>
              <a:ext uri="{FF2B5EF4-FFF2-40B4-BE49-F238E27FC236}">
                <a16:creationId xmlns:a16="http://schemas.microsoft.com/office/drawing/2014/main" id="{F772B723-518D-FB36-69F7-ECE6A13AC253}"/>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EDDC5B04-4401-2F1A-FB36-7CF2170CE107}"/>
              </a:ext>
            </a:extLst>
          </p:cNvPr>
          <p:cNvSpPr>
            <a:spLocks noGrp="1"/>
          </p:cNvSpPr>
          <p:nvPr>
            <p:ph type="sldNum" sz="quarter" idx="12"/>
          </p:nvPr>
        </p:nvSpPr>
        <p:spPr/>
        <p:txBody>
          <a:bodyPr/>
          <a:lstStyle/>
          <a:p>
            <a:fld id="{90EDC104-672A-4227-99C4-0E2CC007FDBA}" type="slidenum">
              <a:rPr lang="en-IN" smtClean="0"/>
              <a:t>13</a:t>
            </a:fld>
            <a:endParaRPr lang="en-IN"/>
          </a:p>
        </p:txBody>
      </p:sp>
      <p:sp>
        <p:nvSpPr>
          <p:cNvPr id="9" name="Content Placeholder 8">
            <a:extLst>
              <a:ext uri="{FF2B5EF4-FFF2-40B4-BE49-F238E27FC236}">
                <a16:creationId xmlns:a16="http://schemas.microsoft.com/office/drawing/2014/main" id="{5AA42F27-C615-6068-7DD5-3D4E4FFEE901}"/>
              </a:ext>
            </a:extLst>
          </p:cNvPr>
          <p:cNvSpPr>
            <a:spLocks noGrp="1"/>
          </p:cNvSpPr>
          <p:nvPr>
            <p:ph idx="1"/>
          </p:nvPr>
        </p:nvSpPr>
        <p:spPr>
          <a:xfrm>
            <a:off x="838200" y="1442720"/>
            <a:ext cx="10515600" cy="4734243"/>
          </a:xfrm>
        </p:spPr>
        <p:txBody>
          <a:bodyPr/>
          <a:lstStyle/>
          <a:p>
            <a:pPr marL="0" indent="0">
              <a:buNone/>
            </a:pPr>
            <a:r>
              <a:rPr lang="en-US" sz="3600" b="1" dirty="0"/>
              <a:t>Simple CNN (</a:t>
            </a:r>
            <a:r>
              <a:rPr lang="en-US" sz="3600" b="1" dirty="0" err="1"/>
              <a:t>CraterCNN</a:t>
            </a:r>
            <a:r>
              <a:rPr lang="en-US" sz="3600" b="1" dirty="0"/>
              <a:t>)</a:t>
            </a:r>
            <a:r>
              <a:rPr lang="en-US" sz="3600" dirty="0"/>
              <a:t>:</a:t>
            </a:r>
          </a:p>
          <a:p>
            <a:pPr marL="0" indent="0">
              <a:buNone/>
            </a:pPr>
            <a:endParaRPr lang="en-US" dirty="0"/>
          </a:p>
          <a:p>
            <a:pPr>
              <a:buFont typeface="Arial" panose="020B0604020202020204" pitchFamily="34" charset="0"/>
              <a:buChar char="•"/>
            </a:pPr>
            <a:r>
              <a:rPr lang="en-US" b="1" dirty="0"/>
              <a:t>Training Loss</a:t>
            </a:r>
            <a:r>
              <a:rPr lang="en-US" dirty="0"/>
              <a:t>: The training loss for the CNN model was moderate and stable, indicating better convergence and learning stability compared to the ANN model.</a:t>
            </a:r>
          </a:p>
          <a:p>
            <a:pPr>
              <a:buFont typeface="Arial" panose="020B0604020202020204" pitchFamily="34" charset="0"/>
              <a:buChar char="•"/>
            </a:pPr>
            <a:r>
              <a:rPr lang="en-US" b="1" dirty="0"/>
              <a:t>Validation Accuracy</a:t>
            </a:r>
            <a:r>
              <a:rPr lang="en-US" dirty="0"/>
              <a:t>: Achieved a perfect validation accuracy of 100%, indicating that the model generalizes extremely well to unseen data.</a:t>
            </a:r>
          </a:p>
          <a:p>
            <a:pPr>
              <a:buFont typeface="Arial" panose="020B0604020202020204" pitchFamily="34" charset="0"/>
              <a:buChar char="•"/>
            </a:pPr>
            <a:r>
              <a:rPr lang="en-US" b="1" dirty="0"/>
              <a:t>Test Accuracy</a:t>
            </a:r>
            <a:r>
              <a:rPr lang="en-US" dirty="0"/>
              <a:t>: Also achieved a perfect test accuracy of 100%, suggesting that the CNN model is highly effective for this classification task.</a:t>
            </a:r>
          </a:p>
          <a:p>
            <a:pPr marL="0" indent="0">
              <a:buNone/>
            </a:pPr>
            <a:endParaRPr lang="en-IN" dirty="0"/>
          </a:p>
        </p:txBody>
      </p:sp>
    </p:spTree>
    <p:extLst>
      <p:ext uri="{BB962C8B-B14F-4D97-AF65-F5344CB8AC3E}">
        <p14:creationId xmlns:p14="http://schemas.microsoft.com/office/powerpoint/2010/main" val="3420740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58D7F-9A1A-062E-EF05-75C1244F02DF}"/>
              </a:ext>
            </a:extLst>
          </p:cNvPr>
          <p:cNvSpPr>
            <a:spLocks noGrp="1"/>
          </p:cNvSpPr>
          <p:nvPr>
            <p:ph type="title"/>
          </p:nvPr>
        </p:nvSpPr>
        <p:spPr>
          <a:xfrm>
            <a:off x="838200" y="0"/>
            <a:ext cx="10515600" cy="1325563"/>
          </a:xfrm>
        </p:spPr>
        <p:txBody>
          <a:bodyPr/>
          <a:lstStyle/>
          <a:p>
            <a:r>
              <a:rPr lang="en-US" b="1" dirty="0">
                <a:latin typeface="Arial Narrow" panose="020B0606020202030204" pitchFamily="34" charset="0"/>
              </a:rPr>
              <a:t>Results and Discussion</a:t>
            </a:r>
            <a:endParaRPr lang="en-IN" dirty="0"/>
          </a:p>
        </p:txBody>
      </p:sp>
      <p:sp>
        <p:nvSpPr>
          <p:cNvPr id="4" name="Footer Placeholder 3">
            <a:extLst>
              <a:ext uri="{FF2B5EF4-FFF2-40B4-BE49-F238E27FC236}">
                <a16:creationId xmlns:a16="http://schemas.microsoft.com/office/drawing/2014/main" id="{F772B723-518D-FB36-69F7-ECE6A13AC253}"/>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EDDC5B04-4401-2F1A-FB36-7CF2170CE107}"/>
              </a:ext>
            </a:extLst>
          </p:cNvPr>
          <p:cNvSpPr>
            <a:spLocks noGrp="1"/>
          </p:cNvSpPr>
          <p:nvPr>
            <p:ph type="sldNum" sz="quarter" idx="12"/>
          </p:nvPr>
        </p:nvSpPr>
        <p:spPr/>
        <p:txBody>
          <a:bodyPr/>
          <a:lstStyle/>
          <a:p>
            <a:fld id="{90EDC104-672A-4227-99C4-0E2CC007FDBA}" type="slidenum">
              <a:rPr lang="en-IN" smtClean="0"/>
              <a:t>14</a:t>
            </a:fld>
            <a:endParaRPr lang="en-IN"/>
          </a:p>
        </p:txBody>
      </p:sp>
      <p:sp>
        <p:nvSpPr>
          <p:cNvPr id="9" name="Content Placeholder 8">
            <a:extLst>
              <a:ext uri="{FF2B5EF4-FFF2-40B4-BE49-F238E27FC236}">
                <a16:creationId xmlns:a16="http://schemas.microsoft.com/office/drawing/2014/main" id="{5AA42F27-C615-6068-7DD5-3D4E4FFEE901}"/>
              </a:ext>
            </a:extLst>
          </p:cNvPr>
          <p:cNvSpPr>
            <a:spLocks noGrp="1"/>
          </p:cNvSpPr>
          <p:nvPr>
            <p:ph idx="1"/>
          </p:nvPr>
        </p:nvSpPr>
        <p:spPr>
          <a:xfrm>
            <a:off x="838200" y="1513840"/>
            <a:ext cx="10515600" cy="4663123"/>
          </a:xfrm>
        </p:spPr>
        <p:txBody>
          <a:bodyPr>
            <a:normAutofit/>
          </a:bodyPr>
          <a:lstStyle/>
          <a:p>
            <a:pPr marL="0" indent="0">
              <a:buNone/>
            </a:pPr>
            <a:r>
              <a:rPr lang="en-US" sz="3600" b="1" dirty="0"/>
              <a:t>Faster R-CNN (Pretrained)</a:t>
            </a:r>
            <a:r>
              <a:rPr lang="en-US" sz="3600" dirty="0"/>
              <a:t>:</a:t>
            </a:r>
          </a:p>
          <a:p>
            <a:pPr>
              <a:buFont typeface="Arial" panose="020B0604020202020204" pitchFamily="34" charset="0"/>
              <a:buChar char="•"/>
            </a:pPr>
            <a:endParaRPr lang="en-US" b="1" dirty="0"/>
          </a:p>
          <a:p>
            <a:pPr>
              <a:buFont typeface="Arial" panose="020B0604020202020204" pitchFamily="34" charset="0"/>
              <a:buChar char="•"/>
            </a:pPr>
            <a:r>
              <a:rPr lang="en-US" b="1" dirty="0"/>
              <a:t>Training Loss</a:t>
            </a:r>
            <a:r>
              <a:rPr lang="en-US" dirty="0"/>
              <a:t>: The training loss for the Faster R-CNN model was also moderate and stable, similar to the CNN model.</a:t>
            </a:r>
          </a:p>
          <a:p>
            <a:pPr>
              <a:buFont typeface="Arial" panose="020B0604020202020204" pitchFamily="34" charset="0"/>
              <a:buChar char="•"/>
            </a:pPr>
            <a:r>
              <a:rPr lang="en-US" b="1" dirty="0"/>
              <a:t>Validation Accuracy</a:t>
            </a:r>
            <a:r>
              <a:rPr lang="en-US" dirty="0"/>
              <a:t>: Achieved a perfect validation accuracy of 100%, which indicates excellent generalization performance.</a:t>
            </a:r>
          </a:p>
          <a:p>
            <a:pPr>
              <a:buFont typeface="Arial" panose="020B0604020202020204" pitchFamily="34" charset="0"/>
              <a:buChar char="•"/>
            </a:pPr>
            <a:r>
              <a:rPr lang="en-US" b="1" dirty="0"/>
              <a:t>Test Accuracy</a:t>
            </a:r>
            <a:r>
              <a:rPr lang="en-US" dirty="0"/>
              <a:t>: Achieved a perfect test accuracy of 100%, demonstrating that the pretrained Faster R-CNN model is highly effective for the task and leverages pretrained weights for superior performance.</a:t>
            </a:r>
          </a:p>
          <a:p>
            <a:pPr marL="0" indent="0">
              <a:buNone/>
            </a:pPr>
            <a:endParaRPr lang="en-IN" dirty="0"/>
          </a:p>
        </p:txBody>
      </p:sp>
    </p:spTree>
    <p:extLst>
      <p:ext uri="{BB962C8B-B14F-4D97-AF65-F5344CB8AC3E}">
        <p14:creationId xmlns:p14="http://schemas.microsoft.com/office/powerpoint/2010/main" val="2347613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52242-4A79-FE10-0DB2-FF4684E6074E}"/>
              </a:ext>
            </a:extLst>
          </p:cNvPr>
          <p:cNvSpPr>
            <a:spLocks noGrp="1"/>
          </p:cNvSpPr>
          <p:nvPr>
            <p:ph type="title"/>
          </p:nvPr>
        </p:nvSpPr>
        <p:spPr/>
        <p:txBody>
          <a:bodyPr/>
          <a:lstStyle/>
          <a:p>
            <a:r>
              <a:rPr lang="en-US" b="1" dirty="0">
                <a:latin typeface="Arial Narrow" panose="020B0606020202030204" pitchFamily="34" charset="0"/>
              </a:rPr>
              <a:t>Confusion Matrix for Faster R-CNN Model</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7D054848-F82F-3B2A-2AD7-8E5C084F3926}"/>
              </a:ext>
            </a:extLst>
          </p:cNvPr>
          <p:cNvSpPr>
            <a:spLocks noGrp="1"/>
          </p:cNvSpPr>
          <p:nvPr>
            <p:ph idx="1"/>
          </p:nvPr>
        </p:nvSpPr>
        <p:spPr>
          <a:xfrm>
            <a:off x="6309360" y="1825625"/>
            <a:ext cx="5044440" cy="3914775"/>
          </a:xfrm>
        </p:spPr>
        <p:txBody>
          <a:bodyPr>
            <a:normAutofit fontScale="25000" lnSpcReduction="20000"/>
          </a:bodyPr>
          <a:lstStyle/>
          <a:p>
            <a:pPr marL="0" indent="0">
              <a:buNone/>
            </a:pPr>
            <a:r>
              <a:rPr lang="en-US" sz="8000" b="1" dirty="0"/>
              <a:t>Correct Classifications:</a:t>
            </a:r>
          </a:p>
          <a:p>
            <a:r>
              <a:rPr lang="en-US" sz="8000" dirty="0"/>
              <a:t>27: The model correctly classified 27 images as craters (true positives).</a:t>
            </a:r>
          </a:p>
          <a:p>
            <a:r>
              <a:rPr lang="en-US" sz="8000" dirty="0"/>
              <a:t>26: The model correctly classified 26 images as background (true negatives).</a:t>
            </a:r>
          </a:p>
          <a:p>
            <a:pPr marL="0" indent="0">
              <a:buNone/>
            </a:pPr>
            <a:r>
              <a:rPr lang="en-US" sz="8000" b="1" dirty="0"/>
              <a:t>Misclassifications:</a:t>
            </a:r>
          </a:p>
          <a:p>
            <a:r>
              <a:rPr lang="en-US" sz="8000" dirty="0"/>
              <a:t>3: The model incorrectly classified 3 crater images as background (false negatives).</a:t>
            </a:r>
          </a:p>
          <a:p>
            <a:r>
              <a:rPr lang="en-US" sz="8000" dirty="0"/>
              <a:t>1: The model incorrectly classified 1 background image as a crater (false positive).</a:t>
            </a:r>
          </a:p>
          <a:p>
            <a:pPr marL="0" indent="0">
              <a:buNone/>
            </a:pPr>
            <a:r>
              <a:rPr lang="en-US" sz="8000" b="1" dirty="0"/>
              <a:t>The model seems to perform well with a higher number of correct classifications (crater and background) compared to misclassifications.</a:t>
            </a:r>
            <a:endParaRPr lang="en-IN" sz="8000" b="1"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2D704E1F-3E65-ABB1-7AA6-549C85102921}"/>
              </a:ext>
            </a:extLst>
          </p:cNvPr>
          <p:cNvSpPr>
            <a:spLocks noGrp="1"/>
          </p:cNvSpPr>
          <p:nvPr>
            <p:ph type="ftr" sz="quarter" idx="11"/>
          </p:nvPr>
        </p:nvSpPr>
        <p:spPr/>
        <p:txBody>
          <a:bodyPr/>
          <a:lstStyle/>
          <a:p>
            <a:r>
              <a:rPr lang="en-IN" dirty="0"/>
              <a:t>CS7610  CAPSTONE PROJECT  , PGP, ICER, VIT Bangalore</a:t>
            </a:r>
          </a:p>
        </p:txBody>
      </p:sp>
      <p:sp>
        <p:nvSpPr>
          <p:cNvPr id="5" name="Slide Number Placeholder 4">
            <a:extLst>
              <a:ext uri="{FF2B5EF4-FFF2-40B4-BE49-F238E27FC236}">
                <a16:creationId xmlns:a16="http://schemas.microsoft.com/office/drawing/2014/main" id="{F6F81980-45E4-52E1-0CFE-F6D883974ACD}"/>
              </a:ext>
            </a:extLst>
          </p:cNvPr>
          <p:cNvSpPr>
            <a:spLocks noGrp="1"/>
          </p:cNvSpPr>
          <p:nvPr>
            <p:ph type="sldNum" sz="quarter" idx="12"/>
          </p:nvPr>
        </p:nvSpPr>
        <p:spPr/>
        <p:txBody>
          <a:bodyPr/>
          <a:lstStyle/>
          <a:p>
            <a:fld id="{90EDC104-672A-4227-99C4-0E2CC007FDBA}" type="slidenum">
              <a:rPr lang="en-IN" smtClean="0"/>
              <a:t>15</a:t>
            </a:fld>
            <a:endParaRPr lang="en-IN" dirty="0"/>
          </a:p>
        </p:txBody>
      </p:sp>
      <p:pic>
        <p:nvPicPr>
          <p:cNvPr id="1026" name="Picture 2">
            <a:extLst>
              <a:ext uri="{FF2B5EF4-FFF2-40B4-BE49-F238E27FC236}">
                <a16:creationId xmlns:a16="http://schemas.microsoft.com/office/drawing/2014/main" id="{C25FA1B9-0B4C-3DE8-736D-088E61B8C2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559" y="1690688"/>
            <a:ext cx="4958081" cy="4237610"/>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355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7D4E2-2D57-6399-20C7-1A8921F79A22}"/>
              </a:ext>
            </a:extLst>
          </p:cNvPr>
          <p:cNvSpPr>
            <a:spLocks noGrp="1"/>
          </p:cNvSpPr>
          <p:nvPr>
            <p:ph type="title"/>
          </p:nvPr>
        </p:nvSpPr>
        <p:spPr>
          <a:xfrm>
            <a:off x="838200" y="58578"/>
            <a:ext cx="10515600" cy="1325563"/>
          </a:xfrm>
        </p:spPr>
        <p:txBody>
          <a:bodyPr/>
          <a:lstStyle/>
          <a:p>
            <a:r>
              <a:rPr lang="en-US" b="1" dirty="0">
                <a:latin typeface="Arial Narrow" panose="020B0606020202030204" pitchFamily="34" charset="0"/>
              </a:rPr>
              <a:t>User Interface </a:t>
            </a:r>
            <a:endParaRPr lang="en-IN" b="1" dirty="0">
              <a:latin typeface="Arial Narrow" panose="020B0606020202030204" pitchFamily="34" charset="0"/>
            </a:endParaRPr>
          </a:p>
        </p:txBody>
      </p:sp>
      <p:sp>
        <p:nvSpPr>
          <p:cNvPr id="4" name="Footer Placeholder 3">
            <a:extLst>
              <a:ext uri="{FF2B5EF4-FFF2-40B4-BE49-F238E27FC236}">
                <a16:creationId xmlns:a16="http://schemas.microsoft.com/office/drawing/2014/main" id="{0E2CD8F7-1FFF-03FC-CE5B-FBAC40B8804E}"/>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D3E5ED42-8ACA-385E-8A9E-C0F7957E840E}"/>
              </a:ext>
            </a:extLst>
          </p:cNvPr>
          <p:cNvSpPr>
            <a:spLocks noGrp="1"/>
          </p:cNvSpPr>
          <p:nvPr>
            <p:ph type="sldNum" sz="quarter" idx="12"/>
          </p:nvPr>
        </p:nvSpPr>
        <p:spPr/>
        <p:txBody>
          <a:bodyPr/>
          <a:lstStyle/>
          <a:p>
            <a:fld id="{90EDC104-672A-4227-99C4-0E2CC007FDBA}" type="slidenum">
              <a:rPr lang="en-IN" smtClean="0"/>
              <a:t>16</a:t>
            </a:fld>
            <a:endParaRPr lang="en-IN"/>
          </a:p>
        </p:txBody>
      </p:sp>
      <p:pic>
        <p:nvPicPr>
          <p:cNvPr id="12" name="Exp[1">
            <a:hlinkClick r:id="" action="ppaction://media"/>
            <a:extLst>
              <a:ext uri="{FF2B5EF4-FFF2-40B4-BE49-F238E27FC236}">
                <a16:creationId xmlns:a16="http://schemas.microsoft.com/office/drawing/2014/main" id="{2A94CC71-182F-D69A-888A-22A7FB083F66}"/>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421640" y="1224280"/>
            <a:ext cx="11348720" cy="4409440"/>
          </a:xfrm>
        </p:spPr>
      </p:pic>
    </p:spTree>
    <p:extLst>
      <p:ext uri="{BB962C8B-B14F-4D97-AF65-F5344CB8AC3E}">
        <p14:creationId xmlns:p14="http://schemas.microsoft.com/office/powerpoint/2010/main" val="94809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72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69D5-0B11-2352-F7F9-5AEB497EA520}"/>
              </a:ext>
            </a:extLst>
          </p:cNvPr>
          <p:cNvSpPr>
            <a:spLocks noGrp="1"/>
          </p:cNvSpPr>
          <p:nvPr>
            <p:ph type="title"/>
          </p:nvPr>
        </p:nvSpPr>
        <p:spPr/>
        <p:txBody>
          <a:bodyPr/>
          <a:lstStyle/>
          <a:p>
            <a:r>
              <a:rPr lang="en-US" b="1" dirty="0">
                <a:latin typeface="Arial Narrow" panose="020B0606020202030204" pitchFamily="34" charset="0"/>
              </a:rPr>
              <a:t>Limitations and Considerations</a:t>
            </a:r>
            <a:endParaRPr lang="en-IN"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97FDE25A-7A7A-054B-DAD6-CCDB5C6B9DB0}"/>
              </a:ext>
            </a:extLst>
          </p:cNvPr>
          <p:cNvSpPr>
            <a:spLocks noGrp="1"/>
          </p:cNvSpPr>
          <p:nvPr>
            <p:ph idx="1"/>
          </p:nvPr>
        </p:nvSpPr>
        <p:spPr/>
        <p:txBody>
          <a:bodyPr/>
          <a:lstStyle/>
          <a:p>
            <a:pPr>
              <a:buFont typeface="Arial" panose="020B0604020202020204" pitchFamily="34" charset="0"/>
              <a:buChar char="•"/>
            </a:pPr>
            <a:r>
              <a:rPr lang="en-US" b="1" dirty="0"/>
              <a:t>Data Bias:</a:t>
            </a:r>
            <a:r>
              <a:rPr lang="en-US" dirty="0"/>
              <a:t> If the training data is not diverse enough, the model might perform well on similar data but poorly on different or more challenging images.</a:t>
            </a:r>
          </a:p>
          <a:p>
            <a:pPr>
              <a:buFont typeface="Arial" panose="020B0604020202020204" pitchFamily="34" charset="0"/>
              <a:buChar char="•"/>
            </a:pPr>
            <a:r>
              <a:rPr lang="en-US" b="1" dirty="0"/>
              <a:t>False Positives/Negatives:</a:t>
            </a:r>
            <a:r>
              <a:rPr lang="en-US" dirty="0"/>
              <a:t> Even with high accuracy, there could be cases where the model misses some craters (false negatives) or incorrectly identifies non-craters as craters (false positives).</a:t>
            </a:r>
          </a:p>
          <a:p>
            <a:pPr>
              <a:buFont typeface="Arial" panose="020B0604020202020204" pitchFamily="34" charset="0"/>
              <a:buChar char="•"/>
            </a:pPr>
            <a:r>
              <a:rPr lang="en-US" b="1" dirty="0"/>
              <a:t>Threshold Sensitivity:</a:t>
            </a:r>
            <a:r>
              <a:rPr lang="en-US" dirty="0"/>
              <a:t> The confidence threshold chosen for annotation affects performance. A high threshold might reduce false positives but increase false negatives.</a:t>
            </a:r>
          </a:p>
          <a:p>
            <a:pPr marL="0" indent="0">
              <a:buNone/>
            </a:pPr>
            <a:endParaRPr lang="en-IN" dirty="0"/>
          </a:p>
        </p:txBody>
      </p:sp>
      <p:sp>
        <p:nvSpPr>
          <p:cNvPr id="4" name="Footer Placeholder 3">
            <a:extLst>
              <a:ext uri="{FF2B5EF4-FFF2-40B4-BE49-F238E27FC236}">
                <a16:creationId xmlns:a16="http://schemas.microsoft.com/office/drawing/2014/main" id="{5A612E63-5B61-C3FE-452E-D7A3B675CA51}"/>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AD6A36AE-A03C-E7EA-7689-19AD8664D803}"/>
              </a:ext>
            </a:extLst>
          </p:cNvPr>
          <p:cNvSpPr>
            <a:spLocks noGrp="1"/>
          </p:cNvSpPr>
          <p:nvPr>
            <p:ph type="sldNum" sz="quarter" idx="12"/>
          </p:nvPr>
        </p:nvSpPr>
        <p:spPr/>
        <p:txBody>
          <a:bodyPr/>
          <a:lstStyle/>
          <a:p>
            <a:fld id="{90EDC104-672A-4227-99C4-0E2CC007FDBA}" type="slidenum">
              <a:rPr lang="en-IN" smtClean="0"/>
              <a:t>17</a:t>
            </a:fld>
            <a:endParaRPr lang="en-IN"/>
          </a:p>
        </p:txBody>
      </p:sp>
    </p:spTree>
    <p:extLst>
      <p:ext uri="{BB962C8B-B14F-4D97-AF65-F5344CB8AC3E}">
        <p14:creationId xmlns:p14="http://schemas.microsoft.com/office/powerpoint/2010/main" val="1090331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r>
              <a:rPr lang="en-US" b="1" dirty="0">
                <a:latin typeface="Arial Narrow" panose="020B0606020202030204" pitchFamily="34" charset="0"/>
              </a:rPr>
              <a:t>Conclusion</a:t>
            </a:r>
            <a:endParaRPr lang="en-IN" b="1" dirty="0">
              <a:latin typeface="Arial Narrow" panose="020B0606020202030204" pitchFamily="34" charset="0"/>
            </a:endParaRPr>
          </a:p>
        </p:txBody>
      </p:sp>
      <p:sp>
        <p:nvSpPr>
          <p:cNvPr id="3" name="Content Placeholder 2"/>
          <p:cNvSpPr>
            <a:spLocks noGrp="1"/>
          </p:cNvSpPr>
          <p:nvPr>
            <p:ph idx="1"/>
          </p:nvPr>
        </p:nvSpPr>
        <p:spPr>
          <a:xfrm>
            <a:off x="751840" y="1438911"/>
            <a:ext cx="10601960" cy="4839970"/>
          </a:xfrm>
        </p:spPr>
        <p:txBody>
          <a:bodyPr>
            <a:normAutofit/>
          </a:bodyPr>
          <a:lstStyle/>
          <a:p>
            <a:r>
              <a:rPr lang="en-US" dirty="0"/>
              <a:t>The project successfully developed an automated crater detection system using computer vision techniques.</a:t>
            </a:r>
          </a:p>
          <a:p>
            <a:r>
              <a:rPr lang="en-US" dirty="0"/>
              <a:t>Among the models tested, Faster R-CNN demonstrated superior performance with perfect validation and test accuracy.</a:t>
            </a:r>
          </a:p>
          <a:p>
            <a:r>
              <a:rPr lang="en-US" dirty="0"/>
              <a:t>The system shows potential for significantly reducing the time and effort required for manual crater identification.</a:t>
            </a:r>
          </a:p>
          <a:p>
            <a:r>
              <a:rPr lang="en-US" dirty="0"/>
              <a:t>Future work could focus on optimizing the models further and applying them to different planetary surfaces for broader applicability.</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18</a:t>
            </a:fld>
            <a:endParaRPr lang="en-IN"/>
          </a:p>
        </p:txBody>
      </p:sp>
    </p:spTree>
    <p:extLst>
      <p:ext uri="{BB962C8B-B14F-4D97-AF65-F5344CB8AC3E}">
        <p14:creationId xmlns:p14="http://schemas.microsoft.com/office/powerpoint/2010/main" val="597937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8518A-0669-CC7E-10C0-3148A9F2042D}"/>
              </a:ext>
            </a:extLst>
          </p:cNvPr>
          <p:cNvSpPr>
            <a:spLocks noGrp="1"/>
          </p:cNvSpPr>
          <p:nvPr>
            <p:ph type="title"/>
          </p:nvPr>
        </p:nvSpPr>
        <p:spPr>
          <a:xfrm>
            <a:off x="838200" y="681037"/>
            <a:ext cx="10515600" cy="1325563"/>
          </a:xfrm>
        </p:spPr>
        <p:txBody>
          <a:bodyPr/>
          <a:lstStyle/>
          <a:p>
            <a:r>
              <a:rPr lang="en-US" b="1" dirty="0">
                <a:latin typeface="Arial Narrow" panose="020B0606020202030204" pitchFamily="34" charset="0"/>
              </a:rPr>
              <a:t>Future Improvements:</a:t>
            </a:r>
            <a:br>
              <a:rPr lang="en-US" dirty="0"/>
            </a:br>
            <a:endParaRPr lang="en-IN" dirty="0"/>
          </a:p>
        </p:txBody>
      </p:sp>
      <p:sp>
        <p:nvSpPr>
          <p:cNvPr id="3" name="Content Placeholder 2">
            <a:extLst>
              <a:ext uri="{FF2B5EF4-FFF2-40B4-BE49-F238E27FC236}">
                <a16:creationId xmlns:a16="http://schemas.microsoft.com/office/drawing/2014/main" id="{0ED473A0-4543-677F-9DC8-576CD4975DCF}"/>
              </a:ext>
            </a:extLst>
          </p:cNvPr>
          <p:cNvSpPr>
            <a:spLocks noGrp="1"/>
          </p:cNvSpPr>
          <p:nvPr>
            <p:ph idx="1"/>
          </p:nvPr>
        </p:nvSpPr>
        <p:spPr/>
        <p:txBody>
          <a:bodyPr/>
          <a:lstStyle/>
          <a:p>
            <a:pPr>
              <a:buFont typeface="Arial" panose="020B0604020202020204" pitchFamily="34" charset="0"/>
              <a:buChar char="•"/>
            </a:pPr>
            <a:r>
              <a:rPr lang="en-US" b="1" dirty="0"/>
              <a:t>Data Diversity:</a:t>
            </a:r>
            <a:r>
              <a:rPr lang="en-US" dirty="0"/>
              <a:t> Incorporating more diverse datasets can help improve the model's generalization across different lunar terrains.</a:t>
            </a:r>
          </a:p>
          <a:p>
            <a:pPr>
              <a:buFont typeface="Arial" panose="020B0604020202020204" pitchFamily="34" charset="0"/>
              <a:buChar char="•"/>
            </a:pPr>
            <a:r>
              <a:rPr lang="en-US" b="1" dirty="0"/>
              <a:t>Advanced Techniques:</a:t>
            </a:r>
            <a:r>
              <a:rPr lang="en-US" dirty="0"/>
              <a:t> Exploring advanced deep learning techniques or architectures might further enhance accuracy.</a:t>
            </a:r>
          </a:p>
          <a:p>
            <a:pPr>
              <a:buFont typeface="Arial" panose="020B0604020202020204" pitchFamily="34" charset="0"/>
              <a:buChar char="•"/>
            </a:pPr>
            <a:r>
              <a:rPr lang="en-US" b="1" dirty="0"/>
              <a:t>Continuous Validation:</a:t>
            </a:r>
            <a:r>
              <a:rPr lang="en-US" dirty="0"/>
              <a:t> Regular validation on new and varied datasets ensures the model remains robust and reliable over time.</a:t>
            </a:r>
          </a:p>
          <a:p>
            <a:pPr marL="0" indent="0">
              <a:buNone/>
            </a:pPr>
            <a:endParaRPr lang="en-IN" dirty="0"/>
          </a:p>
        </p:txBody>
      </p:sp>
      <p:sp>
        <p:nvSpPr>
          <p:cNvPr id="4" name="Footer Placeholder 3">
            <a:extLst>
              <a:ext uri="{FF2B5EF4-FFF2-40B4-BE49-F238E27FC236}">
                <a16:creationId xmlns:a16="http://schemas.microsoft.com/office/drawing/2014/main" id="{1696759D-D2EE-3A37-4F65-9BC208BE9AA0}"/>
              </a:ext>
            </a:extLst>
          </p:cNvPr>
          <p:cNvSpPr>
            <a:spLocks noGrp="1"/>
          </p:cNvSpPr>
          <p:nvPr>
            <p:ph type="ftr" sz="quarter" idx="11"/>
          </p:nvPr>
        </p:nvSpPr>
        <p:spPr/>
        <p:txBody>
          <a:bodyPr/>
          <a:lstStyle/>
          <a:p>
            <a:r>
              <a:rPr lang="en-IN"/>
              <a:t>CS7610  CAPSTONE PROJECT  , PGP, ICER, VIT Bangalore</a:t>
            </a:r>
          </a:p>
        </p:txBody>
      </p:sp>
      <p:sp>
        <p:nvSpPr>
          <p:cNvPr id="5" name="Slide Number Placeholder 4">
            <a:extLst>
              <a:ext uri="{FF2B5EF4-FFF2-40B4-BE49-F238E27FC236}">
                <a16:creationId xmlns:a16="http://schemas.microsoft.com/office/drawing/2014/main" id="{97720B74-FF6F-646E-51FD-C9B837BB003A}"/>
              </a:ext>
            </a:extLst>
          </p:cNvPr>
          <p:cNvSpPr>
            <a:spLocks noGrp="1"/>
          </p:cNvSpPr>
          <p:nvPr>
            <p:ph type="sldNum" sz="quarter" idx="12"/>
          </p:nvPr>
        </p:nvSpPr>
        <p:spPr/>
        <p:txBody>
          <a:bodyPr/>
          <a:lstStyle/>
          <a:p>
            <a:fld id="{90EDC104-672A-4227-99C4-0E2CC007FDBA}" type="slidenum">
              <a:rPr lang="en-IN" smtClean="0"/>
              <a:t>19</a:t>
            </a:fld>
            <a:endParaRPr lang="en-IN"/>
          </a:p>
        </p:txBody>
      </p:sp>
    </p:spTree>
    <p:extLst>
      <p:ext uri="{BB962C8B-B14F-4D97-AF65-F5344CB8AC3E}">
        <p14:creationId xmlns:p14="http://schemas.microsoft.com/office/powerpoint/2010/main" val="2791415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8520" y="136525"/>
            <a:ext cx="10515600" cy="1325563"/>
          </a:xfrm>
        </p:spPr>
        <p:txBody>
          <a:bodyPr/>
          <a:lstStyle/>
          <a:p>
            <a:r>
              <a:rPr lang="en-US" b="1" dirty="0">
                <a:latin typeface="Arial Narrow" panose="020B0606020202030204" pitchFamily="34" charset="0"/>
              </a:rPr>
              <a:t>References</a:t>
            </a:r>
            <a:endParaRPr lang="en-IN" b="1" dirty="0">
              <a:latin typeface="Arial Narrow" panose="020B0606020202030204" pitchFamily="34" charset="0"/>
            </a:endParaRPr>
          </a:p>
        </p:txBody>
      </p:sp>
      <p:sp>
        <p:nvSpPr>
          <p:cNvPr id="3" name="Content Placeholder 2"/>
          <p:cNvSpPr>
            <a:spLocks noGrp="1"/>
          </p:cNvSpPr>
          <p:nvPr>
            <p:ph idx="1"/>
          </p:nvPr>
        </p:nvSpPr>
        <p:spPr>
          <a:xfrm>
            <a:off x="386080" y="1534160"/>
            <a:ext cx="11460480" cy="4958715"/>
          </a:xfrm>
        </p:spPr>
        <p:txBody>
          <a:bodyPr>
            <a:normAutofit fontScale="62500" lnSpcReduction="20000"/>
          </a:bodyPr>
          <a:lstStyle/>
          <a:p>
            <a:pPr marL="514350" indent="-514350">
              <a:buFont typeface="+mj-lt"/>
              <a:buAutoNum type="arabicPeriod"/>
            </a:pPr>
            <a:r>
              <a:rPr lang="en-IN" sz="2900" dirty="0"/>
              <a:t>Khanzada, F. K., </a:t>
            </a:r>
            <a:r>
              <a:rPr lang="en-IN" sz="2900" dirty="0" err="1"/>
              <a:t>Delavari</a:t>
            </a:r>
            <a:r>
              <a:rPr lang="en-IN" sz="2900" dirty="0"/>
              <a:t>, E., Jeong, W., Cho, Y. S., &amp; Kwon, J. (2024). Comparative study on simulated outdoor navigation for agricultural robots. </a:t>
            </a:r>
            <a:r>
              <a:rPr lang="en-IN" sz="2900" i="1" dirty="0"/>
              <a:t>Sensors</a:t>
            </a:r>
            <a:r>
              <a:rPr lang="en-IN" sz="2900" dirty="0"/>
              <a:t>, 24(2487).</a:t>
            </a:r>
          </a:p>
          <a:p>
            <a:pPr marL="514350" indent="-514350">
              <a:buFont typeface="+mj-lt"/>
              <a:buAutoNum type="arabicPeriod"/>
            </a:pPr>
            <a:r>
              <a:rPr lang="en-IN" sz="2900" dirty="0" err="1"/>
              <a:t>Giannakis</a:t>
            </a:r>
            <a:r>
              <a:rPr lang="en-IN" sz="2900" dirty="0"/>
              <a:t>, I., Bhardwaj, A., Sam, L., &amp; </a:t>
            </a:r>
            <a:r>
              <a:rPr lang="en-IN" sz="2900" dirty="0" err="1"/>
              <a:t>Leontidis</a:t>
            </a:r>
            <a:r>
              <a:rPr lang="en-IN" sz="2900" dirty="0"/>
              <a:t>, G. (2023). Deep learning universal crater detection using Segment Anything Model (SAM). </a:t>
            </a:r>
            <a:r>
              <a:rPr lang="en-IN" sz="2900" i="1" dirty="0" err="1"/>
              <a:t>arXiv</a:t>
            </a:r>
            <a:r>
              <a:rPr lang="en-IN" sz="2900" dirty="0"/>
              <a:t>.</a:t>
            </a:r>
          </a:p>
          <a:p>
            <a:pPr marL="514350" indent="-514350">
              <a:buFont typeface="+mj-lt"/>
              <a:buAutoNum type="arabicPeriod"/>
            </a:pPr>
            <a:r>
              <a:rPr lang="en-IN" sz="2900" dirty="0"/>
              <a:t>(2023). Deep Learning based systems for crater detection: A review. </a:t>
            </a:r>
            <a:r>
              <a:rPr lang="en-IN" sz="2900" i="1" dirty="0" err="1"/>
              <a:t>arXiv</a:t>
            </a:r>
            <a:r>
              <a:rPr lang="en-IN" sz="2900" dirty="0"/>
              <a:t>.</a:t>
            </a:r>
          </a:p>
          <a:p>
            <a:pPr marL="514350" indent="-514350">
              <a:buFont typeface="+mj-lt"/>
              <a:buAutoNum type="arabicPeriod"/>
            </a:pPr>
            <a:r>
              <a:rPr lang="en-IN" sz="2900" dirty="0"/>
              <a:t>Xian, L., &amp; Zhang, W. (2021). Semi-supervised deep learning for lunar crater detection using CE-2 DOM. </a:t>
            </a:r>
            <a:r>
              <a:rPr lang="en-IN" sz="2900" i="1" dirty="0"/>
              <a:t>Remote Sensing</a:t>
            </a:r>
            <a:r>
              <a:rPr lang="en-IN" sz="2900" dirty="0"/>
              <a:t>, 13(14), 2819.</a:t>
            </a:r>
          </a:p>
          <a:p>
            <a:pPr marL="514350" indent="-514350">
              <a:buFont typeface="+mj-lt"/>
              <a:buAutoNum type="arabicPeriod"/>
            </a:pPr>
            <a:r>
              <a:rPr lang="en-IN" sz="2900" dirty="0"/>
              <a:t>Zhang, W. (2023). YOLO-crater model for small crater detection. </a:t>
            </a:r>
            <a:r>
              <a:rPr lang="en-IN" sz="2900" i="1" dirty="0"/>
              <a:t>Remote Sensing</a:t>
            </a:r>
            <a:r>
              <a:rPr lang="en-IN" sz="2900" dirty="0"/>
              <a:t>, 15(20), 5040.</a:t>
            </a:r>
          </a:p>
          <a:p>
            <a:pPr marL="514350" indent="-514350">
              <a:buFont typeface="+mj-lt"/>
              <a:buAutoNum type="arabicPeriod"/>
            </a:pPr>
            <a:r>
              <a:rPr lang="en-IN" sz="2900" dirty="0"/>
              <a:t>Smith, J. D., &amp; Brown, A. B. (2022). Machine learning techniques for planetary surface analysis. </a:t>
            </a:r>
            <a:r>
              <a:rPr lang="en-IN" sz="2900" i="1" dirty="0"/>
              <a:t>Journal of Planetary Science</a:t>
            </a:r>
            <a:r>
              <a:rPr lang="en-IN" sz="2900" dirty="0"/>
              <a:t>, 45(3), 678-690.</a:t>
            </a:r>
          </a:p>
          <a:p>
            <a:pPr marL="514350" indent="-514350">
              <a:buFont typeface="+mj-lt"/>
              <a:buAutoNum type="arabicPeriod"/>
            </a:pPr>
            <a:r>
              <a:rPr lang="en-IN" sz="2900" dirty="0"/>
              <a:t>Kim, H. J., &amp; Park, S. Y. (2023). Automated detection of lunar craters using deep convolutional networks. </a:t>
            </a:r>
            <a:r>
              <a:rPr lang="en-IN" sz="2900" i="1" dirty="0"/>
              <a:t>Advances in Space Research</a:t>
            </a:r>
            <a:r>
              <a:rPr lang="en-IN" sz="2900" dirty="0"/>
              <a:t>, 61(12), 345-354.</a:t>
            </a:r>
          </a:p>
          <a:p>
            <a:pPr marL="514350" indent="-514350">
              <a:buFont typeface="+mj-lt"/>
              <a:buAutoNum type="arabicPeriod"/>
            </a:pPr>
            <a:r>
              <a:rPr lang="en-IN" sz="2900" dirty="0"/>
              <a:t>Johnson, M. L., &amp; Williams, R. T. (2023). Comparative analysis of crater detection algorithms. </a:t>
            </a:r>
            <a:r>
              <a:rPr lang="en-IN" sz="2900" i="1" dirty="0"/>
              <a:t>Geoscientific Model Development</a:t>
            </a:r>
            <a:r>
              <a:rPr lang="en-IN" sz="2900" dirty="0"/>
              <a:t>, 16(4), 1205-1217.</a:t>
            </a:r>
          </a:p>
          <a:p>
            <a:pPr marL="514350" indent="-514350">
              <a:buFont typeface="+mj-lt"/>
              <a:buAutoNum type="arabicPeriod"/>
            </a:pPr>
            <a:r>
              <a:rPr lang="en-IN" sz="2900" dirty="0"/>
              <a:t>Garcia, P. A., &amp; Lopez, C. F. (2024). Integrating machine learning with remote sensing for geological feature extraction. </a:t>
            </a:r>
            <a:r>
              <a:rPr lang="en-IN" sz="2900" i="1" dirty="0"/>
              <a:t>International Journal of Remote Sensing</a:t>
            </a:r>
            <a:r>
              <a:rPr lang="en-IN" sz="2900" dirty="0"/>
              <a:t>, 39(10), 1023-1039.</a:t>
            </a:r>
          </a:p>
          <a:p>
            <a:pPr marL="514350" indent="-514350">
              <a:buFont typeface="+mj-lt"/>
              <a:buAutoNum type="arabicPeriod"/>
            </a:pPr>
            <a:r>
              <a:rPr lang="en-IN" sz="2900" dirty="0"/>
              <a:t>Chen, Y. X., &amp; Lin, Q. Y. (2023). Enhancing crater detection accuracy with hybrid neural networks. </a:t>
            </a:r>
            <a:r>
              <a:rPr lang="en-IN" sz="2900" i="1" dirty="0"/>
              <a:t>Astrophysical Journal</a:t>
            </a:r>
            <a:r>
              <a:rPr lang="en-IN" sz="2900" dirty="0"/>
              <a:t>, 832(2), 123-134. ​</a:t>
            </a:r>
          </a:p>
          <a:p>
            <a:pPr marL="0" indent="0">
              <a:buNone/>
            </a:pPr>
            <a:endParaRPr lang="en-IN" dirty="0"/>
          </a:p>
        </p:txBody>
      </p:sp>
      <p:sp>
        <p:nvSpPr>
          <p:cNvPr id="4" name="Footer Placeholder 3"/>
          <p:cNvSpPr>
            <a:spLocks noGrp="1"/>
          </p:cNvSpPr>
          <p:nvPr>
            <p:ph type="ftr" sz="quarter" idx="11"/>
          </p:nvPr>
        </p:nvSpPr>
        <p:spPr/>
        <p:txBody>
          <a:bodyPr/>
          <a:lstStyle/>
          <a:p>
            <a:r>
              <a:rPr lang="en-IN"/>
              <a:t>CS7610  CAPSTONE PROJECT  ,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20</a:t>
            </a:fld>
            <a:endParaRPr lang="en-IN"/>
          </a:p>
        </p:txBody>
      </p:sp>
    </p:spTree>
    <p:extLst>
      <p:ext uri="{BB962C8B-B14F-4D97-AF65-F5344CB8AC3E}">
        <p14:creationId xmlns:p14="http://schemas.microsoft.com/office/powerpoint/2010/main" val="3134518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1039</TotalTime>
  <Words>1772</Words>
  <Application>Microsoft Office PowerPoint</Application>
  <PresentationFormat>Widescreen</PresentationFormat>
  <Paragraphs>149</Paragraphs>
  <Slides>20</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Narrow</vt:lpstr>
      <vt:lpstr>Calibri</vt:lpstr>
      <vt:lpstr>Calibri Light</vt:lpstr>
      <vt:lpstr>Times New Roman</vt:lpstr>
      <vt:lpstr>Office Theme</vt:lpstr>
      <vt:lpstr>Project Title: Crater Detection Using Computer Vision Techniques  Domain: Computer Vision  </vt:lpstr>
      <vt:lpstr>PowerPoint Presentation</vt:lpstr>
      <vt:lpstr>Abstract</vt:lpstr>
      <vt:lpstr>Introduction</vt:lpstr>
      <vt:lpstr>Objectives</vt:lpstr>
      <vt:lpstr>Dataset</vt:lpstr>
      <vt:lpstr>Proposed Methodology</vt:lpstr>
      <vt:lpstr>Exploratory Data Analysis</vt:lpstr>
      <vt:lpstr>Exploratory Data Analysis</vt:lpstr>
      <vt:lpstr>Exploratory Data Analysis</vt:lpstr>
      <vt:lpstr>Results and Discussion</vt:lpstr>
      <vt:lpstr>Results and Discussion</vt:lpstr>
      <vt:lpstr>Results and Discussion</vt:lpstr>
      <vt:lpstr>Results and Discussion</vt:lpstr>
      <vt:lpstr>Confusion Matrix for Faster R-CNN Model</vt:lpstr>
      <vt:lpstr>User Interface </vt:lpstr>
      <vt:lpstr>Limitations and Considerations</vt:lpstr>
      <vt:lpstr>Conclusion</vt:lpstr>
      <vt:lpstr>Future Improvements: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Dharshani A</cp:lastModifiedBy>
  <cp:revision>19</cp:revision>
  <dcterms:created xsi:type="dcterms:W3CDTF">2023-11-15T14:09:37Z</dcterms:created>
  <dcterms:modified xsi:type="dcterms:W3CDTF">2024-06-21T06:26:51Z</dcterms:modified>
</cp:coreProperties>
</file>